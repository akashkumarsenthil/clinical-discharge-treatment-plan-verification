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352"/>
    <p:restoredTop sz="94610"/>
  </p:normalViewPr>
  <p:slideViewPr>
    <p:cSldViewPr snapToGrid="0" snapToObjects="1">
      <p:cViewPr varScale="1">
        <p:scale>
          <a:sx n="115" d="100"/>
          <a:sy n="115" d="100"/>
        </p:scale>
        <p:origin x="376"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88657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hyperlink" Target="https://www.semanticscholar.org/paper/LLM+P:-Empowering-Large-Language-Models-with-Liu-Jiang/003ef1cd670d01af05afa0d3c72d72228f494432" TargetMode="External"/><Relationship Id="rId3" Type="http://schemas.openxmlformats.org/officeDocument/2006/relationships/hyperlink" Target="https://arxiv.org/abs/2606.20895" TargetMode="External"/><Relationship Id="rId7" Type="http://schemas.openxmlformats.org/officeDocument/2006/relationships/hyperlink" Target="https://arxiv.org/pdf/2605.26169"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hyperlink" Target="https://arxiv.org/html/2605.13817" TargetMode="External"/><Relationship Id="rId5" Type="http://schemas.openxmlformats.org/officeDocument/2006/relationships/hyperlink" Target="https://arxiv.org/html/2605.25566" TargetMode="External"/><Relationship Id="rId4" Type="http://schemas.openxmlformats.org/officeDocument/2006/relationships/hyperlink" Target="https://arxiv.org/pdf/2602.24111" TargetMode="External"/><Relationship Id="rId9" Type="http://schemas.openxmlformats.org/officeDocument/2006/relationships/hyperlink" Target="https://arxiv.org/pdf/2507.23589"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875520" y="-1097280"/>
            <a:ext cx="3657600" cy="3657600"/>
          </a:xfrm>
          <a:prstGeom prst="ellipse">
            <a:avLst/>
          </a:prstGeom>
          <a:solidFill>
            <a:srgbClr val="26317A"/>
          </a:solidFill>
          <a:ln/>
        </p:spPr>
      </p:sp>
      <p:sp>
        <p:nvSpPr>
          <p:cNvPr id="3" name="Shape 1"/>
          <p:cNvSpPr/>
          <p:nvPr/>
        </p:nvSpPr>
        <p:spPr>
          <a:xfrm>
            <a:off x="-1371600" y="4754880"/>
            <a:ext cx="2926080" cy="2926080"/>
          </a:xfrm>
          <a:prstGeom prst="ellipse">
            <a:avLst/>
          </a:prstGeom>
          <a:solidFill>
            <a:srgbClr val="26317A"/>
          </a:solidFill>
          <a:ln/>
        </p:spPr>
      </p:sp>
      <p:sp>
        <p:nvSpPr>
          <p:cNvPr id="4" name="Text 2"/>
          <p:cNvSpPr txBox="1"/>
          <p:nvPr/>
        </p:nvSpPr>
        <p:spPr>
          <a:xfrm>
            <a:off x="822960" y="1417320"/>
            <a:ext cx="10515600" cy="365760"/>
          </a:xfrm>
          <a:prstGeom prst="rect">
            <a:avLst/>
          </a:prstGeom>
          <a:noFill/>
          <a:ln/>
        </p:spPr>
        <p:txBody>
          <a:bodyPr wrap="square" lIns="0" tIns="0" rIns="0" bIns="0" rtlCol="0" anchor="ctr"/>
          <a:lstStyle/>
          <a:p>
            <a:pPr marL="0" indent="0">
              <a:buNone/>
            </a:pPr>
            <a:r>
              <a:rPr lang="en-US" sz="1400" dirty="0">
                <a:solidFill>
                  <a:srgbClr val="CADCFC"/>
                </a:solidFill>
                <a:latin typeface="Calibri" pitchFamily="34" charset="0"/>
                <a:ea typeface="Calibri" pitchFamily="34" charset="-122"/>
                <a:cs typeface="Calibri" pitchFamily="34" charset="-120"/>
              </a:rPr>
              <a:t>Team 6  ·  Section 22  ·  Topic 12</a:t>
            </a:r>
            <a:endParaRPr lang="en-US" sz="1400" dirty="0"/>
          </a:p>
        </p:txBody>
      </p:sp>
      <p:sp>
        <p:nvSpPr>
          <p:cNvPr id="5" name="Text 3"/>
          <p:cNvSpPr txBox="1"/>
          <p:nvPr/>
        </p:nvSpPr>
        <p:spPr>
          <a:xfrm>
            <a:off x="822960" y="1874520"/>
            <a:ext cx="10515600" cy="1737360"/>
          </a:xfrm>
          <a:prstGeom prst="rect">
            <a:avLst/>
          </a:prstGeom>
          <a:noFill/>
          <a:ln/>
        </p:spPr>
        <p:txBody>
          <a:bodyPr wrap="square" lIns="0" tIns="0" rIns="0" bIns="0" rtlCol="0" anchor="ctr"/>
          <a:lstStyle/>
          <a:p>
            <a:pPr marL="0" indent="0">
              <a:lnSpc>
                <a:spcPct val="115000"/>
              </a:lnSpc>
              <a:buNone/>
            </a:pPr>
            <a:r>
              <a:rPr lang="en-US" sz="3400" b="1" dirty="0">
                <a:solidFill>
                  <a:srgbClr val="FFFFFF"/>
                </a:solidFill>
                <a:latin typeface="Cambria" pitchFamily="34" charset="0"/>
                <a:ea typeface="Cambria" pitchFamily="34" charset="-122"/>
                <a:cs typeface="Cambria" pitchFamily="34" charset="-120"/>
              </a:rPr>
              <a:t>Neurosymbolic Verification of LLM-Generated</a:t>
            </a:r>
            <a:endParaRPr lang="en-US" sz="3400" dirty="0"/>
          </a:p>
          <a:p>
            <a:pPr marL="0" indent="0">
              <a:lnSpc>
                <a:spcPct val="115000"/>
              </a:lnSpc>
              <a:buNone/>
            </a:pPr>
            <a:r>
              <a:rPr lang="en-US" sz="3400" b="1" dirty="0">
                <a:solidFill>
                  <a:srgbClr val="FFFFFF"/>
                </a:solidFill>
                <a:latin typeface="Cambria" pitchFamily="34" charset="0"/>
                <a:ea typeface="Cambria" pitchFamily="34" charset="-122"/>
                <a:cs typeface="Cambria" pitchFamily="34" charset="-120"/>
              </a:rPr>
              <a:t>Clinical Discharge and Treatment Plans</a:t>
            </a:r>
            <a:endParaRPr lang="en-US" sz="3400" dirty="0"/>
          </a:p>
        </p:txBody>
      </p:sp>
      <p:sp>
        <p:nvSpPr>
          <p:cNvPr id="6" name="Text 4"/>
          <p:cNvSpPr txBox="1"/>
          <p:nvPr/>
        </p:nvSpPr>
        <p:spPr>
          <a:xfrm>
            <a:off x="822960" y="3794760"/>
            <a:ext cx="10515600" cy="548640"/>
          </a:xfrm>
          <a:prstGeom prst="rect">
            <a:avLst/>
          </a:prstGeom>
          <a:noFill/>
          <a:ln/>
        </p:spPr>
        <p:txBody>
          <a:bodyPr wrap="square" lIns="0" tIns="0" rIns="0" bIns="0" rtlCol="0" anchor="ctr"/>
          <a:lstStyle/>
          <a:p>
            <a:pPr marL="0" indent="0">
              <a:buNone/>
            </a:pPr>
            <a:r>
              <a:rPr lang="en-US" sz="1300" dirty="0">
                <a:solidFill>
                  <a:srgbClr val="CADCFC"/>
                </a:solidFill>
                <a:latin typeface="Calibri" pitchFamily="34" charset="0"/>
                <a:ea typeface="Calibri" pitchFamily="34" charset="-122"/>
                <a:cs typeface="Calibri" pitchFamily="34" charset="-120"/>
              </a:rPr>
              <a:t>Ritika Mukesh Neema(Modeling)    ·    Rajesh Paruchuri (Evaluation)   ·    Akashkumar Senthilkumar(Data)    ·    Sneha Singh (Modeling)   ·    Shruthi </a:t>
            </a:r>
            <a:r>
              <a:rPr lang="en-US" sz="1300" dirty="0" err="1">
                <a:solidFill>
                  <a:srgbClr val="CADCFC"/>
                </a:solidFill>
                <a:latin typeface="Calibri" pitchFamily="34" charset="0"/>
                <a:ea typeface="Calibri" pitchFamily="34" charset="-122"/>
                <a:cs typeface="Calibri" pitchFamily="34" charset="-120"/>
              </a:rPr>
              <a:t>Thirukumaran</a:t>
            </a:r>
            <a:r>
              <a:rPr lang="en-US" sz="1300" dirty="0">
                <a:solidFill>
                  <a:srgbClr val="CADCFC"/>
                </a:solidFill>
                <a:latin typeface="Calibri" pitchFamily="34" charset="0"/>
                <a:ea typeface="Calibri" pitchFamily="34" charset="-122"/>
                <a:cs typeface="Calibri" pitchFamily="34" charset="-120"/>
              </a:rPr>
              <a:t>(Infrastructure and Repo)</a:t>
            </a:r>
            <a:endParaRPr lang="en-US" sz="1300" dirty="0"/>
          </a:p>
        </p:txBody>
      </p:sp>
      <p:sp>
        <p:nvSpPr>
          <p:cNvPr id="7" name="Shape 5"/>
          <p:cNvSpPr/>
          <p:nvPr/>
        </p:nvSpPr>
        <p:spPr>
          <a:xfrm>
            <a:off x="822960" y="4937760"/>
            <a:ext cx="10515600" cy="0"/>
          </a:xfrm>
          <a:prstGeom prst="line">
            <a:avLst/>
          </a:prstGeom>
          <a:noFill/>
          <a:ln w="12700">
            <a:solidFill>
              <a:srgbClr val="3C4790"/>
            </a:solidFill>
            <a:prstDash val="solid"/>
          </a:ln>
        </p:spPr>
      </p:sp>
      <p:sp>
        <p:nvSpPr>
          <p:cNvPr id="8" name="Text 6"/>
          <p:cNvSpPr txBox="1"/>
          <p:nvPr/>
        </p:nvSpPr>
        <p:spPr>
          <a:xfrm>
            <a:off x="838200" y="5120640"/>
            <a:ext cx="10515600" cy="320040"/>
          </a:xfrm>
          <a:prstGeom prst="rect">
            <a:avLst/>
          </a:prstGeom>
          <a:noFill/>
          <a:ln/>
        </p:spPr>
        <p:txBody>
          <a:bodyPr wrap="square" lIns="0" tIns="0" rIns="0" bIns="0" rtlCol="0" anchor="ctr"/>
          <a:lstStyle/>
          <a:p>
            <a:r>
              <a:rPr lang="en-US" sz="1200" b="1" dirty="0">
                <a:solidFill>
                  <a:srgbClr val="CADCFC"/>
                </a:solidFill>
                <a:latin typeface="Calibri" pitchFamily="34" charset="0"/>
                <a:ea typeface="Calibri" pitchFamily="34" charset="-122"/>
                <a:cs typeface="Calibri" pitchFamily="34" charset="-120"/>
              </a:rPr>
              <a:t>GitHub: https://</a:t>
            </a:r>
            <a:r>
              <a:rPr lang="en-US" sz="1200" b="1" dirty="0" err="1">
                <a:solidFill>
                  <a:srgbClr val="CADCFC"/>
                </a:solidFill>
                <a:latin typeface="Calibri" pitchFamily="34" charset="0"/>
                <a:ea typeface="Calibri" pitchFamily="34" charset="-122"/>
                <a:cs typeface="Calibri" pitchFamily="34" charset="-120"/>
              </a:rPr>
              <a:t>github.com</a:t>
            </a:r>
            <a:r>
              <a:rPr lang="en-US" sz="1200" b="1" dirty="0">
                <a:solidFill>
                  <a:srgbClr val="CADCFC"/>
                </a:solidFill>
                <a:latin typeface="Calibri" pitchFamily="34" charset="0"/>
                <a:ea typeface="Calibri" pitchFamily="34" charset="-122"/>
                <a:cs typeface="Calibri" pitchFamily="34" charset="-120"/>
              </a:rPr>
              <a:t>/</a:t>
            </a:r>
            <a:r>
              <a:rPr lang="en-US" sz="1200" b="1" dirty="0" err="1">
                <a:solidFill>
                  <a:srgbClr val="CADCFC"/>
                </a:solidFill>
                <a:latin typeface="Calibri" pitchFamily="34" charset="0"/>
                <a:ea typeface="Calibri" pitchFamily="34" charset="-122"/>
                <a:cs typeface="Calibri" pitchFamily="34" charset="-120"/>
              </a:rPr>
              <a:t>Akashkumarsenthil</a:t>
            </a:r>
            <a:r>
              <a:rPr lang="en-US" sz="1200" b="1" dirty="0">
                <a:solidFill>
                  <a:srgbClr val="CADCFC"/>
                </a:solidFill>
                <a:latin typeface="Calibri" pitchFamily="34" charset="0"/>
                <a:ea typeface="Calibri" pitchFamily="34" charset="-122"/>
                <a:cs typeface="Calibri" pitchFamily="34" charset="-120"/>
              </a:rPr>
              <a:t>/Clinical-Discharge-Treatment-Plan-Verification</a:t>
            </a:r>
            <a:endParaRPr lang="en-US" sz="1200" dirty="0"/>
          </a:p>
        </p:txBody>
      </p:sp>
      <p:sp>
        <p:nvSpPr>
          <p:cNvPr id="9" name="Text 7"/>
          <p:cNvSpPr txBox="1"/>
          <p:nvPr/>
        </p:nvSpPr>
        <p:spPr>
          <a:xfrm>
            <a:off x="822960" y="5486400"/>
            <a:ext cx="10515600" cy="320040"/>
          </a:xfrm>
          <a:prstGeom prst="rect">
            <a:avLst/>
          </a:prstGeom>
          <a:noFill/>
          <a:ln/>
        </p:spPr>
        <p:txBody>
          <a:bodyPr wrap="square" lIns="0" tIns="0" rIns="0" bIns="0" rtlCol="0" anchor="ctr"/>
          <a:lstStyle/>
          <a:p>
            <a:pPr marL="0" indent="0">
              <a:buNone/>
            </a:pPr>
            <a:r>
              <a:rPr lang="en-US" sz="1200" b="1" dirty="0">
                <a:solidFill>
                  <a:srgbClr val="CADCFC"/>
                </a:solidFill>
                <a:latin typeface="Calibri" pitchFamily="34" charset="0"/>
                <a:ea typeface="Calibri" pitchFamily="34" charset="-122"/>
                <a:cs typeface="Calibri" pitchFamily="34" charset="-120"/>
              </a:rPr>
              <a:t>Linear:  </a:t>
            </a:r>
            <a:r>
              <a:rPr lang="en-US" sz="1200" dirty="0">
                <a:solidFill>
                  <a:srgbClr val="FFFFFF"/>
                </a:solidFill>
                <a:latin typeface="Calibri" pitchFamily="34" charset="0"/>
                <a:ea typeface="Calibri" pitchFamily="34" charset="-122"/>
                <a:cs typeface="Calibri" pitchFamily="34" charset="-120"/>
              </a:rPr>
              <a:t>linear.app/298a-team-6-neurosymbolic/team/298/overview</a:t>
            </a:r>
            <a:endParaRPr lang="en-US" sz="1200" dirty="0"/>
          </a:p>
        </p:txBody>
      </p:sp>
      <p:sp>
        <p:nvSpPr>
          <p:cNvPr id="10" name="Text 8"/>
          <p:cNvSpPr txBox="1"/>
          <p:nvPr/>
        </p:nvSpPr>
        <p:spPr>
          <a:xfrm>
            <a:off x="11430000" y="6537960"/>
            <a:ext cx="640080" cy="274320"/>
          </a:xfrm>
          <a:prstGeom prst="rect">
            <a:avLst/>
          </a:prstGeom>
          <a:noFill/>
          <a:ln/>
        </p:spPr>
        <p:txBody>
          <a:bodyPr wrap="square" lIns="0" tIns="0" rIns="0" bIns="0" rtlCol="0" anchor="ctr"/>
          <a:lstStyle/>
          <a:p>
            <a:pPr marL="0" indent="0" algn="r">
              <a:buNone/>
            </a:pPr>
            <a:r>
              <a:rPr lang="en-US" sz="1000" dirty="0">
                <a:solidFill>
                  <a:srgbClr val="999999"/>
                </a:solidFill>
                <a:latin typeface="Calibri" pitchFamily="34" charset="0"/>
                <a:ea typeface="Calibri" pitchFamily="34" charset="-122"/>
                <a:cs typeface="Calibri" pitchFamily="34" charset="-120"/>
              </a:rPr>
              <a:t>1 / 8</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484632"/>
            <a:ext cx="1124712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Introduction and Importance</a:t>
            </a:r>
            <a:endParaRPr lang="en-US" sz="3000" dirty="0"/>
          </a:p>
        </p:txBody>
      </p:sp>
      <p:sp>
        <p:nvSpPr>
          <p:cNvPr id="4" name="Shape 2"/>
          <p:cNvSpPr/>
          <p:nvPr/>
        </p:nvSpPr>
        <p:spPr>
          <a:xfrm>
            <a:off x="457200" y="1417320"/>
            <a:ext cx="6035040" cy="4709160"/>
          </a:xfrm>
          <a:prstGeom prst="roundRect">
            <a:avLst>
              <a:gd name="adj" fmla="val 1553"/>
            </a:avLst>
          </a:prstGeom>
          <a:solidFill>
            <a:srgbClr val="F2F2F2"/>
          </a:solidFill>
          <a:ln/>
        </p:spPr>
      </p:sp>
      <p:sp>
        <p:nvSpPr>
          <p:cNvPr id="5" name="Text 3"/>
          <p:cNvSpPr txBox="1"/>
          <p:nvPr/>
        </p:nvSpPr>
        <p:spPr>
          <a:xfrm>
            <a:off x="777240" y="1645920"/>
            <a:ext cx="5486400" cy="365760"/>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The Problem</a:t>
            </a:r>
            <a:endParaRPr lang="en-US" sz="1600" dirty="0"/>
          </a:p>
        </p:txBody>
      </p:sp>
      <p:sp>
        <p:nvSpPr>
          <p:cNvPr id="6" name="Text 4"/>
          <p:cNvSpPr txBox="1"/>
          <p:nvPr/>
        </p:nvSpPr>
        <p:spPr>
          <a:xfrm>
            <a:off x="777240" y="2057400"/>
            <a:ext cx="5394960" cy="2377440"/>
          </a:xfrm>
          <a:prstGeom prst="rect">
            <a:avLst/>
          </a:prstGeom>
          <a:noFill/>
          <a:ln/>
        </p:spPr>
        <p:txBody>
          <a:bodyPr wrap="square" lIns="0" tIns="0" rIns="0" bIns="0" rtlCol="0" anchor="ctr"/>
          <a:lstStyle/>
          <a:p>
            <a:pPr marL="0" indent="0">
              <a:lnSpc>
                <a:spcPct val="115000"/>
              </a:lnSpc>
              <a:buNone/>
            </a:pPr>
            <a:r>
              <a:rPr lang="en-US" sz="1350" dirty="0">
                <a:solidFill>
                  <a:srgbClr val="2B2B2B"/>
                </a:solidFill>
                <a:latin typeface="Calibri" pitchFamily="34" charset="0"/>
                <a:ea typeface="Calibri" pitchFamily="34" charset="-122"/>
                <a:cs typeface="Calibri" pitchFamily="34" charset="-120"/>
              </a:rPr>
              <a:t>LLMs now draft hospital discharge and treatment plans, and these drafts read as clinically fluent even when they contain unsafe sequencing or contraindicated orders. General-purpose LLMs are documented to fail at formal, multi-step planning, and clinical stakes turn that failure mode dangerous rather than inconvenient. Today, care teams catch these errors only through manual physician review, which does not scale and is too late once a plan has already been acted on.</a:t>
            </a:r>
            <a:endParaRPr lang="en-US" sz="1350" dirty="0"/>
          </a:p>
        </p:txBody>
      </p:sp>
      <p:sp>
        <p:nvSpPr>
          <p:cNvPr id="7" name="Text 5"/>
          <p:cNvSpPr txBox="1"/>
          <p:nvPr/>
        </p:nvSpPr>
        <p:spPr>
          <a:xfrm>
            <a:off x="777240" y="4526280"/>
            <a:ext cx="5486400" cy="320040"/>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What Breaks Today</a:t>
            </a:r>
            <a:endParaRPr lang="en-US" sz="1600" dirty="0"/>
          </a:p>
        </p:txBody>
      </p:sp>
      <p:sp>
        <p:nvSpPr>
          <p:cNvPr id="8" name="Text 6"/>
          <p:cNvSpPr txBox="1"/>
          <p:nvPr/>
        </p:nvSpPr>
        <p:spPr>
          <a:xfrm>
            <a:off x="777240" y="4892040"/>
            <a:ext cx="5394960" cy="1051560"/>
          </a:xfrm>
          <a:prstGeom prst="rect">
            <a:avLst/>
          </a:prstGeom>
          <a:noFill/>
          <a:ln/>
        </p:spPr>
        <p:txBody>
          <a:bodyPr wrap="square" lIns="0" tIns="0" rIns="0" bIns="0" rtlCol="0" anchor="ctr"/>
          <a:lstStyle/>
          <a:p>
            <a:pPr marL="0" indent="0">
              <a:lnSpc>
                <a:spcPct val="115000"/>
              </a:lnSpc>
              <a:buNone/>
            </a:pPr>
            <a:r>
              <a:rPr lang="en-US" sz="1350" dirty="0">
                <a:solidFill>
                  <a:srgbClr val="2B2B2B"/>
                </a:solidFill>
                <a:latin typeface="Calibri" pitchFamily="34" charset="0"/>
                <a:ea typeface="Calibri" pitchFamily="34" charset="-122"/>
                <a:cs typeface="Calibri" pitchFamily="34" charset="-120"/>
              </a:rPr>
              <a:t>Safety currently depends entirely on manual review — any LLM discharge tool still needs an attentive human in the loop before use.</a:t>
            </a:r>
            <a:endParaRPr lang="en-US" sz="1350" dirty="0"/>
          </a:p>
        </p:txBody>
      </p:sp>
      <p:sp>
        <p:nvSpPr>
          <p:cNvPr id="9" name="Shape 7"/>
          <p:cNvSpPr/>
          <p:nvPr/>
        </p:nvSpPr>
        <p:spPr>
          <a:xfrm>
            <a:off x="6720840" y="1417320"/>
            <a:ext cx="4983480" cy="1463040"/>
          </a:xfrm>
          <a:prstGeom prst="roundRect">
            <a:avLst>
              <a:gd name="adj" fmla="val 5000"/>
            </a:avLst>
          </a:prstGeom>
          <a:solidFill>
            <a:srgbClr val="FFFFFF"/>
          </a:solidFill>
          <a:ln w="19050">
            <a:solidFill>
              <a:srgbClr val="CADCFC"/>
            </a:solidFill>
            <a:prstDash val="solid"/>
          </a:ln>
        </p:spPr>
      </p:sp>
      <p:sp>
        <p:nvSpPr>
          <p:cNvPr id="10" name="Shape 8"/>
          <p:cNvSpPr/>
          <p:nvPr/>
        </p:nvSpPr>
        <p:spPr>
          <a:xfrm>
            <a:off x="6949440" y="1673352"/>
            <a:ext cx="914400" cy="914400"/>
          </a:xfrm>
          <a:prstGeom prst="ellipse">
            <a:avLst/>
          </a:prstGeom>
          <a:solidFill>
            <a:srgbClr val="028090"/>
          </a:solidFill>
          <a:ln/>
        </p:spPr>
      </p:sp>
      <p:sp>
        <p:nvSpPr>
          <p:cNvPr id="11" name="Text 9"/>
          <p:cNvSpPr txBox="1"/>
          <p:nvPr/>
        </p:nvSpPr>
        <p:spPr>
          <a:xfrm>
            <a:off x="6949440" y="1673352"/>
            <a:ext cx="914400" cy="91440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384</a:t>
            </a:r>
            <a:endParaRPr lang="en-US" sz="2000" dirty="0"/>
          </a:p>
        </p:txBody>
      </p:sp>
      <p:sp>
        <p:nvSpPr>
          <p:cNvPr id="12" name="Text 10"/>
          <p:cNvSpPr txBox="1"/>
          <p:nvPr/>
        </p:nvSpPr>
        <p:spPr>
          <a:xfrm>
            <a:off x="8046720" y="1527048"/>
            <a:ext cx="3520440" cy="1234440"/>
          </a:xfrm>
          <a:prstGeom prst="rect">
            <a:avLst/>
          </a:prstGeom>
          <a:noFill/>
          <a:ln/>
        </p:spPr>
        <p:txBody>
          <a:bodyPr wrap="square" lIns="0" tIns="0" rIns="0" bIns="0" rtlCol="0" anchor="ctr"/>
          <a:lstStyle/>
          <a:p>
            <a:pPr marL="0" indent="0">
              <a:lnSpc>
                <a:spcPct val="108000"/>
              </a:lnSpc>
              <a:buNone/>
            </a:pPr>
            <a:r>
              <a:rPr lang="en-US" sz="1100" dirty="0">
                <a:solidFill>
                  <a:srgbClr val="2B2B2B"/>
                </a:solidFill>
                <a:latin typeface="Calibri" pitchFamily="34" charset="0"/>
                <a:ea typeface="Calibri" pitchFamily="34" charset="-122"/>
                <a:cs typeface="Calibri" pitchFamily="34" charset="-120"/>
              </a:rPr>
              <a:t>hospital discharges in Stanford's MedAgentBrief pilot, Aug–Oct 2025, drafted nightly for 11 attending physicians</a:t>
            </a:r>
            <a:endParaRPr lang="en-US" sz="1100" dirty="0"/>
          </a:p>
        </p:txBody>
      </p:sp>
      <p:sp>
        <p:nvSpPr>
          <p:cNvPr id="13" name="Shape 11"/>
          <p:cNvSpPr/>
          <p:nvPr/>
        </p:nvSpPr>
        <p:spPr>
          <a:xfrm>
            <a:off x="6720840" y="3044952"/>
            <a:ext cx="4983480" cy="1463040"/>
          </a:xfrm>
          <a:prstGeom prst="roundRect">
            <a:avLst>
              <a:gd name="adj" fmla="val 5000"/>
            </a:avLst>
          </a:prstGeom>
          <a:solidFill>
            <a:srgbClr val="FFFFFF"/>
          </a:solidFill>
          <a:ln w="19050">
            <a:solidFill>
              <a:srgbClr val="CADCFC"/>
            </a:solidFill>
            <a:prstDash val="solid"/>
          </a:ln>
        </p:spPr>
      </p:sp>
      <p:sp>
        <p:nvSpPr>
          <p:cNvPr id="14" name="Shape 12"/>
          <p:cNvSpPr/>
          <p:nvPr/>
        </p:nvSpPr>
        <p:spPr>
          <a:xfrm>
            <a:off x="6949440" y="3300984"/>
            <a:ext cx="914400" cy="914400"/>
          </a:xfrm>
          <a:prstGeom prst="ellipse">
            <a:avLst/>
          </a:prstGeom>
          <a:solidFill>
            <a:srgbClr val="028090"/>
          </a:solidFill>
          <a:ln/>
        </p:spPr>
      </p:sp>
      <p:sp>
        <p:nvSpPr>
          <p:cNvPr id="15" name="Text 13"/>
          <p:cNvSpPr txBox="1"/>
          <p:nvPr/>
        </p:nvSpPr>
        <p:spPr>
          <a:xfrm>
            <a:off x="6949440" y="3300984"/>
            <a:ext cx="914400" cy="91440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292</a:t>
            </a:r>
            <a:endParaRPr lang="en-US" sz="2000" dirty="0"/>
          </a:p>
        </p:txBody>
      </p:sp>
      <p:sp>
        <p:nvSpPr>
          <p:cNvPr id="16" name="Text 14"/>
          <p:cNvSpPr txBox="1"/>
          <p:nvPr/>
        </p:nvSpPr>
        <p:spPr>
          <a:xfrm>
            <a:off x="8046720" y="3154680"/>
            <a:ext cx="3520440" cy="1234440"/>
          </a:xfrm>
          <a:prstGeom prst="rect">
            <a:avLst/>
          </a:prstGeom>
          <a:noFill/>
          <a:ln/>
        </p:spPr>
        <p:txBody>
          <a:bodyPr wrap="square" lIns="0" tIns="0" rIns="0" bIns="0" rtlCol="0" anchor="ctr"/>
          <a:lstStyle/>
          <a:p>
            <a:pPr marL="0" indent="0">
              <a:lnSpc>
                <a:spcPct val="108000"/>
              </a:lnSpc>
              <a:buNone/>
            </a:pPr>
            <a:r>
              <a:rPr lang="en-US" sz="1100" dirty="0">
                <a:solidFill>
                  <a:srgbClr val="2B2B2B"/>
                </a:solidFill>
                <a:latin typeface="Calibri" pitchFamily="34" charset="0"/>
                <a:ea typeface="Calibri" pitchFamily="34" charset="-122"/>
                <a:cs typeface="Calibri" pitchFamily="34" charset="-120"/>
              </a:rPr>
              <a:t>of about 1,000 discharge cases evaluated in a one-week period at a 1,300-bed Dutch academic hospital, with high adoption of LLM drafts</a:t>
            </a:r>
            <a:endParaRPr lang="en-US" sz="1100" dirty="0"/>
          </a:p>
        </p:txBody>
      </p:sp>
      <p:sp>
        <p:nvSpPr>
          <p:cNvPr id="17" name="Shape 15"/>
          <p:cNvSpPr/>
          <p:nvPr/>
        </p:nvSpPr>
        <p:spPr>
          <a:xfrm>
            <a:off x="6720840" y="4672584"/>
            <a:ext cx="4983480" cy="1463040"/>
          </a:xfrm>
          <a:prstGeom prst="roundRect">
            <a:avLst>
              <a:gd name="adj" fmla="val 5000"/>
            </a:avLst>
          </a:prstGeom>
          <a:solidFill>
            <a:srgbClr val="FFFFFF"/>
          </a:solidFill>
          <a:ln w="19050">
            <a:solidFill>
              <a:srgbClr val="CADCFC"/>
            </a:solidFill>
            <a:prstDash val="solid"/>
          </a:ln>
        </p:spPr>
      </p:sp>
      <p:sp>
        <p:nvSpPr>
          <p:cNvPr id="18" name="Shape 16"/>
          <p:cNvSpPr/>
          <p:nvPr/>
        </p:nvSpPr>
        <p:spPr>
          <a:xfrm>
            <a:off x="6949440" y="4928616"/>
            <a:ext cx="914400" cy="914400"/>
          </a:xfrm>
          <a:prstGeom prst="ellipse">
            <a:avLst/>
          </a:prstGeom>
          <a:solidFill>
            <a:srgbClr val="028090"/>
          </a:solidFill>
          <a:ln/>
        </p:spPr>
      </p:sp>
      <p:sp>
        <p:nvSpPr>
          <p:cNvPr id="19" name="Text 17"/>
          <p:cNvSpPr txBox="1"/>
          <p:nvPr/>
        </p:nvSpPr>
        <p:spPr>
          <a:xfrm>
            <a:off x="6949440" y="4928616"/>
            <a:ext cx="914400" cy="9144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2026</a:t>
            </a:r>
            <a:endParaRPr lang="en-US" sz="1400" dirty="0"/>
          </a:p>
        </p:txBody>
      </p:sp>
      <p:sp>
        <p:nvSpPr>
          <p:cNvPr id="20" name="Text 18"/>
          <p:cNvSpPr txBox="1"/>
          <p:nvPr/>
        </p:nvSpPr>
        <p:spPr>
          <a:xfrm>
            <a:off x="8046720" y="4782312"/>
            <a:ext cx="3520440" cy="1234440"/>
          </a:xfrm>
          <a:prstGeom prst="rect">
            <a:avLst/>
          </a:prstGeom>
          <a:noFill/>
          <a:ln/>
        </p:spPr>
        <p:txBody>
          <a:bodyPr wrap="square" lIns="0" tIns="0" rIns="0" bIns="0" rtlCol="0" anchor="ctr"/>
          <a:lstStyle/>
          <a:p>
            <a:pPr marL="0" indent="0">
              <a:lnSpc>
                <a:spcPct val="108000"/>
              </a:lnSpc>
              <a:buNone/>
            </a:pPr>
            <a:r>
              <a:rPr lang="en-US" sz="1100" dirty="0">
                <a:solidFill>
                  <a:srgbClr val="2B2B2B"/>
                </a:solidFill>
                <a:latin typeface="Calibri" pitchFamily="34" charset="0"/>
                <a:ea typeface="Calibri" pitchFamily="34" charset="-122"/>
                <a:cs typeface="Calibri" pitchFamily="34" charset="-120"/>
              </a:rPr>
              <a:t>UCSF is separately planning its own LLM discharge-summary pilot — this is a live, current shift, not future work</a:t>
            </a:r>
            <a:endParaRPr lang="en-US" sz="1100" dirty="0"/>
          </a:p>
        </p:txBody>
      </p:sp>
      <p:sp>
        <p:nvSpPr>
          <p:cNvPr id="21" name="Text 19"/>
          <p:cNvSpPr txBox="1"/>
          <p:nvPr/>
        </p:nvSpPr>
        <p:spPr>
          <a:xfrm>
            <a:off x="11430000" y="6537960"/>
            <a:ext cx="640080" cy="274320"/>
          </a:xfrm>
          <a:prstGeom prst="rect">
            <a:avLst/>
          </a:prstGeom>
          <a:noFill/>
          <a:ln/>
        </p:spPr>
        <p:txBody>
          <a:bodyPr wrap="square" lIns="0" tIns="0" rIns="0" bIns="0" rtlCol="0" anchor="ctr"/>
          <a:lstStyle/>
          <a:p>
            <a:pPr marL="0" indent="0" algn="r">
              <a:buNone/>
            </a:pPr>
            <a:r>
              <a:rPr lang="en-US" sz="1000" dirty="0">
                <a:solidFill>
                  <a:srgbClr val="999999"/>
                </a:solidFill>
                <a:latin typeface="Calibri" pitchFamily="34" charset="0"/>
                <a:ea typeface="Calibri" pitchFamily="34" charset="-122"/>
                <a:cs typeface="Calibri" pitchFamily="34" charset="-120"/>
              </a:rPr>
              <a:t>2 / 8</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657970"/>
            <a:ext cx="1124712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Goal and Issues</a:t>
            </a:r>
            <a:endParaRPr lang="en-US" sz="3000" dirty="0"/>
          </a:p>
        </p:txBody>
      </p:sp>
      <p:sp>
        <p:nvSpPr>
          <p:cNvPr id="4" name="Text 2"/>
          <p:cNvSpPr txBox="1"/>
          <p:nvPr/>
        </p:nvSpPr>
        <p:spPr>
          <a:xfrm>
            <a:off x="487680" y="1412350"/>
            <a:ext cx="426720" cy="365760"/>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Goal:  </a:t>
            </a:r>
            <a:endParaRPr lang="en-US" sz="1350" dirty="0"/>
          </a:p>
        </p:txBody>
      </p:sp>
      <p:sp>
        <p:nvSpPr>
          <p:cNvPr id="5" name="Text 3"/>
          <p:cNvSpPr txBox="1"/>
          <p:nvPr/>
        </p:nvSpPr>
        <p:spPr>
          <a:xfrm>
            <a:off x="914400" y="1380744"/>
            <a:ext cx="10424160" cy="457200"/>
          </a:xfrm>
          <a:prstGeom prst="rect">
            <a:avLst/>
          </a:prstGeom>
          <a:noFill/>
          <a:ln/>
        </p:spPr>
        <p:txBody>
          <a:bodyPr wrap="square" lIns="0" tIns="0" rIns="0" bIns="0" rtlCol="0" anchor="ctr"/>
          <a:lstStyle/>
          <a:p>
            <a:pPr marL="0" indent="0">
              <a:buNone/>
            </a:pPr>
            <a:r>
              <a:rPr lang="en-US" sz="1350" dirty="0">
                <a:solidFill>
                  <a:srgbClr val="2B2B2B"/>
                </a:solidFill>
                <a:latin typeface="Calibri" pitchFamily="34" charset="0"/>
                <a:ea typeface="Calibri" pitchFamily="34" charset="-122"/>
                <a:cs typeface="Calibri" pitchFamily="34" charset="-120"/>
              </a:rPr>
              <a:t>Build a checker that verifies LLM-generated discharge/treatment plans against team-authored rules before a clinician or system acts on them.</a:t>
            </a:r>
            <a:endParaRPr lang="en-US" sz="1350" dirty="0"/>
          </a:p>
        </p:txBody>
      </p:sp>
      <p:sp>
        <p:nvSpPr>
          <p:cNvPr id="6" name="Shape 4"/>
          <p:cNvSpPr/>
          <p:nvPr/>
        </p:nvSpPr>
        <p:spPr>
          <a:xfrm>
            <a:off x="457200" y="1965960"/>
            <a:ext cx="3383280" cy="1371600"/>
          </a:xfrm>
          <a:prstGeom prst="roundRect">
            <a:avLst>
              <a:gd name="adj" fmla="val 5333"/>
            </a:avLst>
          </a:prstGeom>
          <a:solidFill>
            <a:srgbClr val="1E2761"/>
          </a:solidFill>
          <a:ln/>
        </p:spPr>
      </p:sp>
      <p:sp>
        <p:nvSpPr>
          <p:cNvPr id="7" name="Text 5"/>
          <p:cNvSpPr txBox="1"/>
          <p:nvPr/>
        </p:nvSpPr>
        <p:spPr>
          <a:xfrm>
            <a:off x="457200" y="2057400"/>
            <a:ext cx="3383280" cy="685800"/>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 0.85</a:t>
            </a:r>
            <a:endParaRPr lang="en-US" sz="3400" dirty="0"/>
          </a:p>
        </p:txBody>
      </p:sp>
      <p:sp>
        <p:nvSpPr>
          <p:cNvPr id="8" name="Text 6"/>
          <p:cNvSpPr txBox="1"/>
          <p:nvPr/>
        </p:nvSpPr>
        <p:spPr>
          <a:xfrm>
            <a:off x="457200" y="2697480"/>
            <a:ext cx="3383280" cy="502920"/>
          </a:xfrm>
          <a:prstGeom prst="rect">
            <a:avLst/>
          </a:prstGeom>
          <a:noFill/>
          <a:ln/>
        </p:spPr>
        <p:txBody>
          <a:bodyPr wrap="square" lIns="0" tIns="0" rIns="0" bIns="0" rtlCol="0" anchor="ctr"/>
          <a:lstStyle/>
          <a:p>
            <a:pPr marL="0" indent="0" algn="ctr">
              <a:buNone/>
            </a:pPr>
            <a:r>
              <a:rPr lang="en-US" sz="1150" dirty="0">
                <a:solidFill>
                  <a:srgbClr val="CADCFC"/>
                </a:solidFill>
                <a:latin typeface="Calibri" pitchFamily="34" charset="0"/>
                <a:ea typeface="Calibri" pitchFamily="34" charset="-122"/>
                <a:cs typeface="Calibri" pitchFamily="34" charset="-120"/>
              </a:rPr>
              <a:t>plan validity rate — 100 held-out cases</a:t>
            </a:r>
            <a:endParaRPr lang="en-US" sz="1150" dirty="0"/>
          </a:p>
        </p:txBody>
      </p:sp>
      <p:sp>
        <p:nvSpPr>
          <p:cNvPr id="9" name="Shape 7"/>
          <p:cNvSpPr/>
          <p:nvPr/>
        </p:nvSpPr>
        <p:spPr>
          <a:xfrm>
            <a:off x="4023360" y="1965960"/>
            <a:ext cx="3383280" cy="1371600"/>
          </a:xfrm>
          <a:prstGeom prst="roundRect">
            <a:avLst>
              <a:gd name="adj" fmla="val 5333"/>
            </a:avLst>
          </a:prstGeom>
          <a:solidFill>
            <a:srgbClr val="028090"/>
          </a:solidFill>
          <a:ln/>
        </p:spPr>
      </p:sp>
      <p:sp>
        <p:nvSpPr>
          <p:cNvPr id="10" name="Text 8"/>
          <p:cNvSpPr txBox="1"/>
          <p:nvPr/>
        </p:nvSpPr>
        <p:spPr>
          <a:xfrm>
            <a:off x="4023360" y="2057400"/>
            <a:ext cx="3383280" cy="685800"/>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 0.05</a:t>
            </a:r>
            <a:endParaRPr lang="en-US" sz="3400" dirty="0"/>
          </a:p>
        </p:txBody>
      </p:sp>
      <p:sp>
        <p:nvSpPr>
          <p:cNvPr id="11" name="Text 9"/>
          <p:cNvSpPr txBox="1"/>
          <p:nvPr/>
        </p:nvSpPr>
        <p:spPr>
          <a:xfrm>
            <a:off x="4023360" y="2697480"/>
            <a:ext cx="3383280" cy="502920"/>
          </a:xfrm>
          <a:prstGeom prst="rect">
            <a:avLst/>
          </a:prstGeom>
          <a:noFill/>
          <a:ln/>
        </p:spPr>
        <p:txBody>
          <a:bodyPr wrap="square" lIns="0" tIns="0" rIns="0" bIns="0"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constraint-violation escape rate</a:t>
            </a:r>
            <a:endParaRPr lang="en-US" sz="1150" dirty="0"/>
          </a:p>
        </p:txBody>
      </p:sp>
      <p:sp>
        <p:nvSpPr>
          <p:cNvPr id="12" name="Shape 10"/>
          <p:cNvSpPr/>
          <p:nvPr/>
        </p:nvSpPr>
        <p:spPr>
          <a:xfrm>
            <a:off x="7589520" y="1965960"/>
            <a:ext cx="4114800" cy="1371600"/>
          </a:xfrm>
          <a:prstGeom prst="roundRect">
            <a:avLst>
              <a:gd name="adj" fmla="val 5333"/>
            </a:avLst>
          </a:prstGeom>
          <a:solidFill>
            <a:srgbClr val="B85042"/>
          </a:solidFill>
          <a:ln/>
        </p:spPr>
      </p:sp>
      <p:sp>
        <p:nvSpPr>
          <p:cNvPr id="13" name="Text 11"/>
          <p:cNvSpPr txBox="1"/>
          <p:nvPr/>
        </p:nvSpPr>
        <p:spPr>
          <a:xfrm>
            <a:off x="7818120" y="2057400"/>
            <a:ext cx="374904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Failure Measures :</a:t>
            </a:r>
            <a:endParaRPr lang="en-US" sz="1200" dirty="0"/>
          </a:p>
        </p:txBody>
      </p:sp>
      <p:sp>
        <p:nvSpPr>
          <p:cNvPr id="14" name="Text 12"/>
          <p:cNvSpPr txBox="1"/>
          <p:nvPr/>
        </p:nvSpPr>
        <p:spPr>
          <a:xfrm>
            <a:off x="7818120" y="2359152"/>
            <a:ext cx="3749040" cy="868680"/>
          </a:xfrm>
          <a:prstGeom prst="rect">
            <a:avLst/>
          </a:prstGeom>
          <a:noFill/>
          <a:ln/>
        </p:spPr>
        <p:txBody>
          <a:bodyPr wrap="square" lIns="0" tIns="0" rIns="0" bIns="0" rtlCol="0" anchor="ctr"/>
          <a:lstStyle/>
          <a:p>
            <a:pPr marL="0" indent="0">
              <a:lnSpc>
                <a:spcPct val="110000"/>
              </a:lnSpc>
              <a:buNone/>
            </a:pPr>
            <a:r>
              <a:rPr lang="en-US" sz="1150" dirty="0">
                <a:solidFill>
                  <a:srgbClr val="FFE8E4"/>
                </a:solidFill>
                <a:latin typeface="Calibri" pitchFamily="34" charset="0"/>
                <a:ea typeface="Calibri" pitchFamily="34" charset="-122"/>
                <a:cs typeface="Calibri" pitchFamily="34" charset="-120"/>
              </a:rPr>
              <a:t>validity below 0.85, or more than 5 in 100 unsafe plans passing undetected.</a:t>
            </a:r>
            <a:endParaRPr lang="en-US" sz="1150" dirty="0"/>
          </a:p>
        </p:txBody>
      </p:sp>
      <p:sp>
        <p:nvSpPr>
          <p:cNvPr id="15" name="Text 13"/>
          <p:cNvSpPr txBox="1"/>
          <p:nvPr/>
        </p:nvSpPr>
        <p:spPr>
          <a:xfrm>
            <a:off x="457200" y="3611880"/>
            <a:ext cx="10972800" cy="365760"/>
          </a:xfrm>
          <a:prstGeom prst="rect">
            <a:avLst/>
          </a:prstGeom>
          <a:noFill/>
          <a:ln/>
        </p:spPr>
        <p:txBody>
          <a:bodyPr wrap="square" lIns="0" tIns="0" rIns="0" bIns="0"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Genuine Difficulties — and What We Don't Know Yet</a:t>
            </a:r>
            <a:endParaRPr lang="en-US" sz="1500" dirty="0"/>
          </a:p>
        </p:txBody>
      </p:sp>
      <p:sp>
        <p:nvSpPr>
          <p:cNvPr id="16" name="Shape 14"/>
          <p:cNvSpPr/>
          <p:nvPr/>
        </p:nvSpPr>
        <p:spPr>
          <a:xfrm>
            <a:off x="457200" y="4069080"/>
            <a:ext cx="457200" cy="457200"/>
          </a:xfrm>
          <a:prstGeom prst="ellipse">
            <a:avLst/>
          </a:prstGeom>
          <a:solidFill>
            <a:srgbClr val="1E2761"/>
          </a:solidFill>
          <a:ln/>
        </p:spPr>
      </p:sp>
      <p:sp>
        <p:nvSpPr>
          <p:cNvPr id="17" name="Text 15"/>
          <p:cNvSpPr txBox="1"/>
          <p:nvPr/>
        </p:nvSpPr>
        <p:spPr>
          <a:xfrm>
            <a:off x="457200" y="40690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8" name="Text 16"/>
          <p:cNvSpPr txBox="1"/>
          <p:nvPr/>
        </p:nvSpPr>
        <p:spPr>
          <a:xfrm>
            <a:off x="1097280" y="4041648"/>
            <a:ext cx="10424160" cy="292608"/>
          </a:xfrm>
          <a:prstGeom prst="rect">
            <a:avLst/>
          </a:prstGeom>
          <a:noFill/>
          <a:ln/>
        </p:spPr>
        <p:txBody>
          <a:bodyPr wrap="square" lIns="0" tIns="0" rIns="0" bIns="0" rtlCol="0" anchor="ctr"/>
          <a:lstStyle/>
          <a:p>
            <a:pPr marL="0" indent="0">
              <a:buNone/>
            </a:pPr>
            <a:r>
              <a:rPr lang="en-US" sz="1300" b="1" dirty="0">
                <a:solidFill>
                  <a:srgbClr val="2B2B2B"/>
                </a:solidFill>
                <a:latin typeface="Calibri" pitchFamily="34" charset="0"/>
                <a:ea typeface="Calibri" pitchFamily="34" charset="-122"/>
                <a:cs typeface="Calibri" pitchFamily="34" charset="-120"/>
              </a:rPr>
              <a:t>MIMIC-IV was not cleaned for this use.</a:t>
            </a:r>
            <a:endParaRPr lang="en-US" sz="1300" dirty="0"/>
          </a:p>
        </p:txBody>
      </p:sp>
      <p:sp>
        <p:nvSpPr>
          <p:cNvPr id="19" name="Text 17"/>
          <p:cNvSpPr txBox="1"/>
          <p:nvPr/>
        </p:nvSpPr>
        <p:spPr>
          <a:xfrm>
            <a:off x="1097280" y="4325112"/>
            <a:ext cx="10424160" cy="502920"/>
          </a:xfrm>
          <a:prstGeom prst="rect">
            <a:avLst/>
          </a:prstGeom>
          <a:noFill/>
          <a:ln/>
        </p:spPr>
        <p:txBody>
          <a:bodyPr wrap="square" lIns="0" tIns="0" rIns="0" bIns="0" rtlCol="0" anchor="ctr"/>
          <a:lstStyle/>
          <a:p>
            <a:pPr marL="0" indent="0">
              <a:lnSpc>
                <a:spcPct val="105000"/>
              </a:lnSpc>
              <a:buNone/>
            </a:pPr>
            <a:r>
              <a:rPr lang="en-US" sz="1150" dirty="0">
                <a:solidFill>
                  <a:srgbClr val="555555"/>
                </a:solidFill>
                <a:latin typeface="Calibri" pitchFamily="34" charset="0"/>
                <a:ea typeface="Calibri" pitchFamily="34" charset="-122"/>
                <a:cs typeface="Calibri" pitchFamily="34" charset="-120"/>
              </a:rPr>
              <a:t>The MIMIC initiative states cleaning steps were not performed, so the data reflects a real-world dataset. Not yet known: how many records have complete enough fields to rule-check without manual cleanup.</a:t>
            </a:r>
            <a:endParaRPr lang="en-US" sz="1150" dirty="0"/>
          </a:p>
        </p:txBody>
      </p:sp>
      <p:sp>
        <p:nvSpPr>
          <p:cNvPr id="20" name="Shape 18"/>
          <p:cNvSpPr/>
          <p:nvPr/>
        </p:nvSpPr>
        <p:spPr>
          <a:xfrm>
            <a:off x="457200" y="4855464"/>
            <a:ext cx="457200" cy="457200"/>
          </a:xfrm>
          <a:prstGeom prst="ellipse">
            <a:avLst/>
          </a:prstGeom>
          <a:solidFill>
            <a:srgbClr val="1E2761"/>
          </a:solidFill>
          <a:ln/>
        </p:spPr>
      </p:sp>
      <p:sp>
        <p:nvSpPr>
          <p:cNvPr id="21" name="Text 19"/>
          <p:cNvSpPr txBox="1"/>
          <p:nvPr/>
        </p:nvSpPr>
        <p:spPr>
          <a:xfrm>
            <a:off x="457200" y="4855464"/>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22" name="Text 20"/>
          <p:cNvSpPr txBox="1"/>
          <p:nvPr/>
        </p:nvSpPr>
        <p:spPr>
          <a:xfrm>
            <a:off x="1097280" y="4828032"/>
            <a:ext cx="10424160" cy="292608"/>
          </a:xfrm>
          <a:prstGeom prst="rect">
            <a:avLst/>
          </a:prstGeom>
          <a:noFill/>
          <a:ln/>
        </p:spPr>
        <p:txBody>
          <a:bodyPr wrap="square" lIns="0" tIns="0" rIns="0" bIns="0" rtlCol="0" anchor="ctr"/>
          <a:lstStyle/>
          <a:p>
            <a:pPr marL="0" indent="0">
              <a:buNone/>
            </a:pPr>
            <a:r>
              <a:rPr lang="en-US" sz="1300" b="1" dirty="0">
                <a:solidFill>
                  <a:srgbClr val="2B2B2B"/>
                </a:solidFill>
                <a:latin typeface="Calibri" pitchFamily="34" charset="0"/>
                <a:ea typeface="Calibri" pitchFamily="34" charset="-122"/>
                <a:cs typeface="Calibri" pitchFamily="34" charset="-120"/>
              </a:rPr>
              <a:t>No standardized MIMIC-IV preprocessing pipeline exists.</a:t>
            </a:r>
            <a:endParaRPr lang="en-US" sz="1300" dirty="0"/>
          </a:p>
        </p:txBody>
      </p:sp>
      <p:sp>
        <p:nvSpPr>
          <p:cNvPr id="23" name="Text 21"/>
          <p:cNvSpPr txBox="1"/>
          <p:nvPr/>
        </p:nvSpPr>
        <p:spPr>
          <a:xfrm>
            <a:off x="1097280" y="5111496"/>
            <a:ext cx="10424160" cy="502920"/>
          </a:xfrm>
          <a:prstGeom prst="rect">
            <a:avLst/>
          </a:prstGeom>
          <a:noFill/>
          <a:ln/>
        </p:spPr>
        <p:txBody>
          <a:bodyPr wrap="square" lIns="0" tIns="0" rIns="0" bIns="0" rtlCol="0" anchor="ctr"/>
          <a:lstStyle/>
          <a:p>
            <a:pPr marL="0" indent="0">
              <a:lnSpc>
                <a:spcPct val="105000"/>
              </a:lnSpc>
              <a:buNone/>
            </a:pPr>
            <a:r>
              <a:rPr lang="en-US" sz="1150" dirty="0">
                <a:solidFill>
                  <a:srgbClr val="555555"/>
                </a:solidFill>
                <a:latin typeface="Calibri" pitchFamily="34" charset="0"/>
                <a:ea typeface="Calibri" pitchFamily="34" charset="-122"/>
                <a:cs typeface="Calibri" pitchFamily="34" charset="-120"/>
              </a:rPr>
              <a:t>The team must build or adapt an extraction pipeline rather than assume one drops in cleanly. Not yet known: how much prep time this adds before Model A can be evaluated.</a:t>
            </a:r>
            <a:endParaRPr lang="en-US" sz="1150" dirty="0"/>
          </a:p>
        </p:txBody>
      </p:sp>
      <p:sp>
        <p:nvSpPr>
          <p:cNvPr id="24" name="Shape 22"/>
          <p:cNvSpPr/>
          <p:nvPr/>
        </p:nvSpPr>
        <p:spPr>
          <a:xfrm>
            <a:off x="457200" y="5641848"/>
            <a:ext cx="457200" cy="457200"/>
          </a:xfrm>
          <a:prstGeom prst="ellipse">
            <a:avLst/>
          </a:prstGeom>
          <a:solidFill>
            <a:srgbClr val="1E2761"/>
          </a:solidFill>
          <a:ln/>
        </p:spPr>
      </p:sp>
      <p:sp>
        <p:nvSpPr>
          <p:cNvPr id="25" name="Text 23"/>
          <p:cNvSpPr txBox="1"/>
          <p:nvPr/>
        </p:nvSpPr>
        <p:spPr>
          <a:xfrm>
            <a:off x="472440" y="5652383"/>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6" name="Text 24"/>
          <p:cNvSpPr txBox="1"/>
          <p:nvPr/>
        </p:nvSpPr>
        <p:spPr>
          <a:xfrm>
            <a:off x="1097280" y="5614416"/>
            <a:ext cx="10424160" cy="292608"/>
          </a:xfrm>
          <a:prstGeom prst="rect">
            <a:avLst/>
          </a:prstGeom>
          <a:noFill/>
          <a:ln/>
        </p:spPr>
        <p:txBody>
          <a:bodyPr wrap="square" lIns="0" tIns="0" rIns="0" bIns="0" rtlCol="0" anchor="ctr"/>
          <a:lstStyle/>
          <a:p>
            <a:pPr marL="0" indent="0">
              <a:buNone/>
            </a:pPr>
            <a:r>
              <a:rPr lang="en-US" sz="1300" b="1" dirty="0">
                <a:solidFill>
                  <a:srgbClr val="2B2B2B"/>
                </a:solidFill>
                <a:latin typeface="Calibri" pitchFamily="34" charset="0"/>
                <a:ea typeface="Calibri" pitchFamily="34" charset="-122"/>
                <a:cs typeface="Calibri" pitchFamily="34" charset="-120"/>
              </a:rPr>
              <a:t>PhysioNet credentialing is still pending for all members.</a:t>
            </a:r>
            <a:endParaRPr lang="en-US" sz="1300" dirty="0"/>
          </a:p>
        </p:txBody>
      </p:sp>
      <p:sp>
        <p:nvSpPr>
          <p:cNvPr id="27" name="Text 25"/>
          <p:cNvSpPr txBox="1"/>
          <p:nvPr/>
        </p:nvSpPr>
        <p:spPr>
          <a:xfrm>
            <a:off x="1097280" y="5897880"/>
            <a:ext cx="10424160" cy="502920"/>
          </a:xfrm>
          <a:prstGeom prst="rect">
            <a:avLst/>
          </a:prstGeom>
          <a:noFill/>
          <a:ln/>
        </p:spPr>
        <p:txBody>
          <a:bodyPr wrap="square" lIns="0" tIns="0" rIns="0" bIns="0" rtlCol="0" anchor="ctr"/>
          <a:lstStyle/>
          <a:p>
            <a:pPr marL="0" indent="0">
              <a:lnSpc>
                <a:spcPct val="105000"/>
              </a:lnSpc>
              <a:buNone/>
            </a:pPr>
            <a:r>
              <a:rPr lang="en-US" sz="1150" dirty="0">
                <a:solidFill>
                  <a:srgbClr val="555555"/>
                </a:solidFill>
                <a:latin typeface="Calibri" pitchFamily="34" charset="0"/>
                <a:ea typeface="Calibri" pitchFamily="34" charset="-122"/>
                <a:cs typeface="Calibri" pitchFamily="34" charset="-120"/>
              </a:rPr>
              <a:t>CITI training and Data Use Agreement approval can take several business days. Not yet known: the exact approval date, so the timeline risk is real but unquantified.</a:t>
            </a:r>
            <a:endParaRPr lang="en-US" sz="1150" dirty="0"/>
          </a:p>
        </p:txBody>
      </p:sp>
      <p:sp>
        <p:nvSpPr>
          <p:cNvPr id="28" name="Text 26"/>
          <p:cNvSpPr txBox="1"/>
          <p:nvPr/>
        </p:nvSpPr>
        <p:spPr>
          <a:xfrm>
            <a:off x="11430000" y="6537960"/>
            <a:ext cx="640080" cy="274320"/>
          </a:xfrm>
          <a:prstGeom prst="rect">
            <a:avLst/>
          </a:prstGeom>
          <a:noFill/>
          <a:ln/>
        </p:spPr>
        <p:txBody>
          <a:bodyPr wrap="square" lIns="0" tIns="0" rIns="0" bIns="0" rtlCol="0" anchor="ctr"/>
          <a:lstStyle/>
          <a:p>
            <a:pPr marL="0" indent="0" algn="r">
              <a:buNone/>
            </a:pPr>
            <a:r>
              <a:rPr lang="en-US" sz="1000" dirty="0">
                <a:solidFill>
                  <a:srgbClr val="999999"/>
                </a:solidFill>
                <a:latin typeface="Calibri" pitchFamily="34" charset="0"/>
                <a:ea typeface="Calibri" pitchFamily="34" charset="-122"/>
                <a:cs typeface="Calibri" pitchFamily="34" charset="-120"/>
              </a:rPr>
              <a:t>3 / 8</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434340"/>
            <a:ext cx="1124712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Initial State of the Art</a:t>
            </a:r>
            <a:endParaRPr lang="en-US" sz="3000" dirty="0"/>
          </a:p>
        </p:txBody>
      </p:sp>
      <p:sp>
        <p:nvSpPr>
          <p:cNvPr id="4" name="Shape 2"/>
          <p:cNvSpPr/>
          <p:nvPr/>
        </p:nvSpPr>
        <p:spPr>
          <a:xfrm>
            <a:off x="457200" y="1417319"/>
            <a:ext cx="3611880" cy="4448221"/>
          </a:xfrm>
          <a:prstGeom prst="roundRect">
            <a:avLst>
              <a:gd name="adj" fmla="val 2000"/>
            </a:avLst>
          </a:prstGeom>
          <a:solidFill>
            <a:srgbClr val="F2F2F2"/>
          </a:solidFill>
          <a:ln/>
        </p:spPr>
      </p:sp>
      <p:sp>
        <p:nvSpPr>
          <p:cNvPr id="5" name="Shape 3"/>
          <p:cNvSpPr/>
          <p:nvPr/>
        </p:nvSpPr>
        <p:spPr>
          <a:xfrm>
            <a:off x="457200" y="1417320"/>
            <a:ext cx="3657600" cy="777240"/>
          </a:xfrm>
          <a:prstGeom prst="roundRect">
            <a:avLst>
              <a:gd name="adj" fmla="val 9412"/>
            </a:avLst>
          </a:prstGeom>
          <a:solidFill>
            <a:srgbClr val="1E2761"/>
          </a:solidFill>
          <a:ln/>
        </p:spPr>
      </p:sp>
      <p:sp>
        <p:nvSpPr>
          <p:cNvPr id="6" name="Text 4"/>
          <p:cNvSpPr txBox="1"/>
          <p:nvPr/>
        </p:nvSpPr>
        <p:spPr>
          <a:xfrm>
            <a:off x="640080" y="1444752"/>
            <a:ext cx="3291840" cy="731520"/>
          </a:xfrm>
          <a:prstGeom prst="rect">
            <a:avLst/>
          </a:prstGeom>
          <a:noFill/>
          <a:ln/>
        </p:spPr>
        <p:txBody>
          <a:bodyPr wrap="square" lIns="0" tIns="0" rIns="0" bIns="0" rtlCol="0" anchor="ctr"/>
          <a:lstStyle/>
          <a:p>
            <a:pPr marL="0" indent="0">
              <a:lnSpc>
                <a:spcPct val="100000"/>
              </a:lnSpc>
              <a:buNone/>
            </a:pPr>
            <a:r>
              <a:rPr lang="en-US" sz="1450" b="1" dirty="0">
                <a:solidFill>
                  <a:srgbClr val="FFFFFF"/>
                </a:solidFill>
                <a:latin typeface="Cambria" pitchFamily="34" charset="0"/>
                <a:ea typeface="Cambria" pitchFamily="34" charset="-122"/>
                <a:cs typeface="Cambria" pitchFamily="34" charset="-120"/>
              </a:rPr>
              <a:t>Neurosymbolic Clinical Verification</a:t>
            </a:r>
            <a:endParaRPr lang="en-US" sz="1450" dirty="0"/>
          </a:p>
        </p:txBody>
      </p:sp>
      <p:sp>
        <p:nvSpPr>
          <p:cNvPr id="7" name="Text 5"/>
          <p:cNvSpPr txBox="1"/>
          <p:nvPr/>
        </p:nvSpPr>
        <p:spPr>
          <a:xfrm>
            <a:off x="640080" y="2233032"/>
            <a:ext cx="3200400" cy="2095314"/>
          </a:xfrm>
          <a:prstGeom prst="rect">
            <a:avLst/>
          </a:prstGeom>
          <a:noFill/>
          <a:ln/>
        </p:spPr>
        <p:txBody>
          <a:bodyPr wrap="square" lIns="0" tIns="0" rIns="0" bIns="0" rtlCol="0" anchor="ctr"/>
          <a:lstStyle/>
          <a:p>
            <a:pPr marL="0" indent="0">
              <a:lnSpc>
                <a:spcPct val="115000"/>
              </a:lnSpc>
              <a:buNone/>
            </a:pPr>
            <a:r>
              <a:rPr lang="en-US" sz="1150" dirty="0">
                <a:solidFill>
                  <a:srgbClr val="2B2B2B"/>
                </a:solidFill>
                <a:latin typeface="Calibri" pitchFamily="34" charset="0"/>
                <a:ea typeface="Calibri" pitchFamily="34" charset="-122"/>
                <a:cs typeface="Calibri" pitchFamily="34" charset="-120"/>
              </a:rPr>
              <a:t>LLMs paired with SMT solvers so clinical decisions can be checked, not just trusted. One framework has an LLM translate eligibility criteria into logic, then lets Z3 check satisfiability with a self-correction loop. Another audits whether a stated diagnosis is actually supported by a model's own findings. A third aligns LLMs with formal logic for explainable, verifiable diagnosis. All target diagnosis or eligibility, not plan sequencing.</a:t>
            </a:r>
            <a:endParaRPr lang="en-US" sz="1150" dirty="0"/>
          </a:p>
        </p:txBody>
      </p:sp>
      <p:sp>
        <p:nvSpPr>
          <p:cNvPr id="8" name="Shape 6"/>
          <p:cNvSpPr/>
          <p:nvPr/>
        </p:nvSpPr>
        <p:spPr>
          <a:xfrm>
            <a:off x="4251960" y="1417320"/>
            <a:ext cx="3611880" cy="4448220"/>
          </a:xfrm>
          <a:prstGeom prst="roundRect">
            <a:avLst>
              <a:gd name="adj" fmla="val 2000"/>
            </a:avLst>
          </a:prstGeom>
          <a:solidFill>
            <a:srgbClr val="F2F2F2"/>
          </a:solidFill>
          <a:ln/>
        </p:spPr>
      </p:sp>
      <p:sp>
        <p:nvSpPr>
          <p:cNvPr id="9" name="Shape 7"/>
          <p:cNvSpPr/>
          <p:nvPr/>
        </p:nvSpPr>
        <p:spPr>
          <a:xfrm>
            <a:off x="4251960" y="1417320"/>
            <a:ext cx="3657600" cy="777240"/>
          </a:xfrm>
          <a:prstGeom prst="roundRect">
            <a:avLst>
              <a:gd name="adj" fmla="val 9412"/>
            </a:avLst>
          </a:prstGeom>
          <a:solidFill>
            <a:srgbClr val="028090"/>
          </a:solidFill>
          <a:ln/>
        </p:spPr>
      </p:sp>
      <p:sp>
        <p:nvSpPr>
          <p:cNvPr id="10" name="Text 8"/>
          <p:cNvSpPr txBox="1"/>
          <p:nvPr/>
        </p:nvSpPr>
        <p:spPr>
          <a:xfrm>
            <a:off x="4434840" y="1444752"/>
            <a:ext cx="3291840" cy="731520"/>
          </a:xfrm>
          <a:prstGeom prst="rect">
            <a:avLst/>
          </a:prstGeom>
          <a:noFill/>
          <a:ln/>
        </p:spPr>
        <p:txBody>
          <a:bodyPr wrap="square" lIns="0" tIns="0" rIns="0" bIns="0" rtlCol="0" anchor="ctr"/>
          <a:lstStyle/>
          <a:p>
            <a:pPr marL="0" indent="0">
              <a:lnSpc>
                <a:spcPct val="100000"/>
              </a:lnSpc>
              <a:buNone/>
            </a:pPr>
            <a:r>
              <a:rPr lang="en-US" sz="1450" b="1" dirty="0">
                <a:solidFill>
                  <a:srgbClr val="FFFFFF"/>
                </a:solidFill>
                <a:latin typeface="Cambria" pitchFamily="34" charset="0"/>
                <a:ea typeface="Cambria" pitchFamily="34" charset="-122"/>
                <a:cs typeface="Cambria" pitchFamily="34" charset="-120"/>
              </a:rPr>
              <a:t>Formalization Auditing &amp; Reliability</a:t>
            </a:r>
            <a:endParaRPr lang="en-US" sz="1450" dirty="0"/>
          </a:p>
        </p:txBody>
      </p:sp>
      <p:sp>
        <p:nvSpPr>
          <p:cNvPr id="11" name="Text 9"/>
          <p:cNvSpPr txBox="1"/>
          <p:nvPr/>
        </p:nvSpPr>
        <p:spPr>
          <a:xfrm>
            <a:off x="4457700" y="2123093"/>
            <a:ext cx="3200400" cy="2095314"/>
          </a:xfrm>
          <a:prstGeom prst="rect">
            <a:avLst/>
          </a:prstGeom>
          <a:noFill/>
          <a:ln/>
        </p:spPr>
        <p:txBody>
          <a:bodyPr wrap="square" lIns="0" tIns="0" rIns="0" bIns="0" rtlCol="0" anchor="ctr"/>
          <a:lstStyle/>
          <a:p>
            <a:pPr marL="0" indent="0">
              <a:lnSpc>
                <a:spcPct val="115000"/>
              </a:lnSpc>
              <a:buNone/>
            </a:pPr>
            <a:r>
              <a:rPr lang="en-US" sz="1150" dirty="0">
                <a:solidFill>
                  <a:srgbClr val="2B2B2B"/>
                </a:solidFill>
                <a:latin typeface="Calibri" pitchFamily="34" charset="0"/>
                <a:ea typeface="Calibri" pitchFamily="34" charset="-122"/>
                <a:cs typeface="Calibri" pitchFamily="34" charset="-120"/>
              </a:rPr>
              <a:t>This work warns that formalization itself is a failure point: an LLM-generated formal spec can be internally inconsistent, especially in domains like medical devices with safe parameter ranges. Separate work on repair loops shows the same prompt at the same temperature can produce a correct fix on one run and an incorrect one on the next — directly relevant to Model C's repair step.</a:t>
            </a:r>
            <a:endParaRPr lang="en-US" sz="1150" dirty="0"/>
          </a:p>
        </p:txBody>
      </p:sp>
      <p:sp>
        <p:nvSpPr>
          <p:cNvPr id="12" name="Shape 10"/>
          <p:cNvSpPr/>
          <p:nvPr/>
        </p:nvSpPr>
        <p:spPr>
          <a:xfrm>
            <a:off x="8001000" y="1444752"/>
            <a:ext cx="3749040" cy="4420788"/>
          </a:xfrm>
          <a:prstGeom prst="roundRect">
            <a:avLst>
              <a:gd name="adj" fmla="val 2000"/>
            </a:avLst>
          </a:prstGeom>
          <a:solidFill>
            <a:srgbClr val="F2F2F2"/>
          </a:solidFill>
          <a:ln/>
        </p:spPr>
      </p:sp>
      <p:sp>
        <p:nvSpPr>
          <p:cNvPr id="13" name="Shape 11"/>
          <p:cNvSpPr/>
          <p:nvPr/>
        </p:nvSpPr>
        <p:spPr>
          <a:xfrm>
            <a:off x="8046720" y="1417320"/>
            <a:ext cx="3657600" cy="777240"/>
          </a:xfrm>
          <a:prstGeom prst="roundRect">
            <a:avLst>
              <a:gd name="adj" fmla="val 9412"/>
            </a:avLst>
          </a:prstGeom>
          <a:solidFill>
            <a:srgbClr val="B85042"/>
          </a:solidFill>
          <a:ln/>
        </p:spPr>
      </p:sp>
      <p:sp>
        <p:nvSpPr>
          <p:cNvPr id="14" name="Text 12"/>
          <p:cNvSpPr txBox="1"/>
          <p:nvPr/>
        </p:nvSpPr>
        <p:spPr>
          <a:xfrm>
            <a:off x="8229600" y="1444752"/>
            <a:ext cx="3291840" cy="731520"/>
          </a:xfrm>
          <a:prstGeom prst="rect">
            <a:avLst/>
          </a:prstGeom>
          <a:noFill/>
          <a:ln/>
        </p:spPr>
        <p:txBody>
          <a:bodyPr wrap="square" lIns="0" tIns="0" rIns="0" bIns="0" rtlCol="0" anchor="ctr"/>
          <a:lstStyle/>
          <a:p>
            <a:pPr marL="0" indent="0">
              <a:lnSpc>
                <a:spcPct val="100000"/>
              </a:lnSpc>
              <a:buNone/>
            </a:pPr>
            <a:r>
              <a:rPr lang="en-US" sz="1450" b="1" dirty="0">
                <a:solidFill>
                  <a:srgbClr val="FFFFFF"/>
                </a:solidFill>
                <a:latin typeface="Cambria" pitchFamily="34" charset="0"/>
                <a:ea typeface="Cambria" pitchFamily="34" charset="-122"/>
                <a:cs typeface="Cambria" pitchFamily="34" charset="-120"/>
              </a:rPr>
              <a:t>LLM + Classical Planner Hybrids</a:t>
            </a:r>
            <a:endParaRPr lang="en-US" sz="1450" dirty="0"/>
          </a:p>
        </p:txBody>
      </p:sp>
      <p:sp>
        <p:nvSpPr>
          <p:cNvPr id="15" name="Text 13"/>
          <p:cNvSpPr txBox="1"/>
          <p:nvPr/>
        </p:nvSpPr>
        <p:spPr>
          <a:xfrm>
            <a:off x="8183880" y="2121679"/>
            <a:ext cx="3200400" cy="2095314"/>
          </a:xfrm>
          <a:prstGeom prst="rect">
            <a:avLst/>
          </a:prstGeom>
          <a:noFill/>
          <a:ln/>
        </p:spPr>
        <p:txBody>
          <a:bodyPr wrap="square" lIns="0" tIns="0" rIns="0" bIns="0" rtlCol="0" anchor="ctr"/>
          <a:lstStyle/>
          <a:p>
            <a:pPr marL="0" indent="0">
              <a:lnSpc>
                <a:spcPct val="115000"/>
              </a:lnSpc>
              <a:buNone/>
            </a:pPr>
            <a:r>
              <a:rPr lang="en-US" sz="1150" dirty="0">
                <a:solidFill>
                  <a:srgbClr val="2B2B2B"/>
                </a:solidFill>
                <a:latin typeface="Calibri" pitchFamily="34" charset="0"/>
                <a:ea typeface="Calibri" pitchFamily="34" charset="-122"/>
                <a:cs typeface="Calibri" pitchFamily="34" charset="-120"/>
              </a:rPr>
              <a:t>One framework translates a goal into PDDL, runs a classical planner, then turns the plan back into plain language. An earlier system has an LLM generate PDDL plans directly, and another adds a validator that revises a plan when it fails — a direct precedent for Model C/D.</a:t>
            </a:r>
            <a:endParaRPr lang="en-US" sz="1150" dirty="0"/>
          </a:p>
        </p:txBody>
      </p:sp>
      <p:sp>
        <p:nvSpPr>
          <p:cNvPr id="16" name="Shape 14"/>
          <p:cNvSpPr/>
          <p:nvPr/>
        </p:nvSpPr>
        <p:spPr>
          <a:xfrm>
            <a:off x="457200" y="5947503"/>
            <a:ext cx="11247120" cy="685800"/>
          </a:xfrm>
          <a:prstGeom prst="roundRect">
            <a:avLst>
              <a:gd name="adj" fmla="val 8000"/>
            </a:avLst>
          </a:prstGeom>
          <a:solidFill>
            <a:srgbClr val="1E2761"/>
          </a:solidFill>
          <a:ln/>
        </p:spPr>
      </p:sp>
      <p:sp>
        <p:nvSpPr>
          <p:cNvPr id="17" name="Text 15"/>
          <p:cNvSpPr txBox="1"/>
          <p:nvPr/>
        </p:nvSpPr>
        <p:spPr>
          <a:xfrm>
            <a:off x="628929" y="6029465"/>
            <a:ext cx="10789920" cy="685800"/>
          </a:xfrm>
          <a:prstGeom prst="rect">
            <a:avLst/>
          </a:prstGeom>
          <a:noFill/>
          <a:ln/>
        </p:spPr>
        <p:txBody>
          <a:bodyPr wrap="square" lIns="0" tIns="0" rIns="0" bIns="0" rtlCol="0" anchor="ctr"/>
          <a:lstStyle/>
          <a:p>
            <a:pPr marL="0" indent="0">
              <a:lnSpc>
                <a:spcPct val="105000"/>
              </a:lnSpc>
              <a:buNone/>
            </a:pPr>
            <a:r>
              <a:rPr lang="en-US" sz="1200" b="1" dirty="0">
                <a:solidFill>
                  <a:srgbClr val="CADCFC"/>
                </a:solidFill>
                <a:latin typeface="Calibri" pitchFamily="34" charset="0"/>
                <a:ea typeface="Calibri" pitchFamily="34" charset="-122"/>
                <a:cs typeface="Calibri" pitchFamily="34" charset="-120"/>
              </a:rPr>
              <a:t>The gap:  </a:t>
            </a:r>
            <a:r>
              <a:rPr lang="en-US" sz="1200" dirty="0">
                <a:solidFill>
                  <a:srgbClr val="FFFFFF"/>
                </a:solidFill>
                <a:latin typeface="Calibri" pitchFamily="34" charset="0"/>
                <a:ea typeface="Calibri" pitchFamily="34" charset="-122"/>
                <a:cs typeface="Calibri" pitchFamily="34" charset="-120"/>
              </a:rPr>
              <a:t>no existing work applies solver-based verification with counterexample repair to discharge/treatment plan sequencing, or reproduces a published clinical-LLM baseline as a fixed comparison point.</a:t>
            </a:r>
            <a:endParaRPr lang="en-US" sz="1200" dirty="0"/>
          </a:p>
        </p:txBody>
      </p:sp>
      <p:sp>
        <p:nvSpPr>
          <p:cNvPr id="18" name="Text 16"/>
          <p:cNvSpPr txBox="1"/>
          <p:nvPr/>
        </p:nvSpPr>
        <p:spPr>
          <a:xfrm>
            <a:off x="11430000" y="6537960"/>
            <a:ext cx="640080" cy="274320"/>
          </a:xfrm>
          <a:prstGeom prst="rect">
            <a:avLst/>
          </a:prstGeom>
          <a:noFill/>
          <a:ln/>
        </p:spPr>
        <p:txBody>
          <a:bodyPr wrap="square" lIns="0" tIns="0" rIns="0" bIns="0" rtlCol="0" anchor="ctr"/>
          <a:lstStyle/>
          <a:p>
            <a:pPr marL="0" indent="0" algn="r">
              <a:buNone/>
            </a:pPr>
            <a:r>
              <a:rPr lang="en-US" sz="1000" dirty="0">
                <a:solidFill>
                  <a:srgbClr val="999999"/>
                </a:solidFill>
                <a:latin typeface="Calibri" pitchFamily="34" charset="0"/>
                <a:ea typeface="Calibri" pitchFamily="34" charset="-122"/>
                <a:cs typeface="Calibri" pitchFamily="34" charset="-120"/>
              </a:rPr>
              <a:t>4 / 8</a:t>
            </a:r>
            <a:endParaRPr lang="en-US" sz="1000" dirty="0"/>
          </a:p>
        </p:txBody>
      </p:sp>
      <p:sp>
        <p:nvSpPr>
          <p:cNvPr id="19" name="TextBox 18">
            <a:extLst>
              <a:ext uri="{FF2B5EF4-FFF2-40B4-BE49-F238E27FC236}">
                <a16:creationId xmlns:a16="http://schemas.microsoft.com/office/drawing/2014/main" id="{6FFFF321-D940-4249-186E-4F9E21DDC819}"/>
              </a:ext>
            </a:extLst>
          </p:cNvPr>
          <p:cNvSpPr txBox="1"/>
          <p:nvPr/>
        </p:nvSpPr>
        <p:spPr>
          <a:xfrm>
            <a:off x="457200" y="4270917"/>
            <a:ext cx="3657600" cy="1785104"/>
          </a:xfrm>
          <a:prstGeom prst="rect">
            <a:avLst/>
          </a:prstGeom>
          <a:noFill/>
        </p:spPr>
        <p:txBody>
          <a:bodyPr wrap="square" rtlCol="0">
            <a:spAutoFit/>
          </a:bodyPr>
          <a:lstStyle/>
          <a:p>
            <a:pPr marL="228600" lvl="0" indent="-228600">
              <a:buFont typeface="+mj-lt"/>
              <a:buAutoNum type="arabicPeriod"/>
            </a:pPr>
            <a:r>
              <a:rPr lang="en-US" sz="1100" i="1" dirty="0" err="1"/>
              <a:t>Neurosymbolic</a:t>
            </a:r>
            <a:r>
              <a:rPr lang="en-US" sz="1100" i="1" dirty="0"/>
              <a:t> Clinical Trial Matching via LLM-Driven Abduction and Logical Verification (α</a:t>
            </a:r>
            <a:r>
              <a:rPr lang="en-US" sz="1100" i="1" dirty="0" err="1"/>
              <a:t>NeSy</a:t>
            </a:r>
            <a:r>
              <a:rPr lang="en-US" sz="1100" i="1" dirty="0"/>
              <a:t>-CTM) — </a:t>
            </a:r>
            <a:r>
              <a:rPr lang="en-US" sz="1100" i="1" dirty="0">
                <a:hlinkClick r:id="rId3"/>
              </a:rPr>
              <a:t>https://arxiv.org/abs/2606.20895</a:t>
            </a:r>
            <a:endParaRPr lang="en-US" sz="1100" i="1" dirty="0"/>
          </a:p>
          <a:p>
            <a:pPr marL="228600" lvl="0" indent="-228600">
              <a:buFont typeface="+mj-lt"/>
              <a:buAutoNum type="arabicPeriod"/>
            </a:pPr>
            <a:r>
              <a:rPr lang="en-US" sz="1100" i="1" dirty="0"/>
              <a:t>Toward Guarantees for Clinical Reasoning in Vision Language Models via Formal Verification — </a:t>
            </a:r>
            <a:r>
              <a:rPr lang="en-US" sz="1100" i="1" dirty="0">
                <a:hlinkClick r:id="rId4"/>
              </a:rPr>
              <a:t>https://arxiv.org/pdf/2602.24111</a:t>
            </a:r>
            <a:endParaRPr lang="en-US" sz="1100" i="1" dirty="0"/>
          </a:p>
          <a:p>
            <a:pPr marL="228600" lvl="0" indent="-228600">
              <a:buFont typeface="+mj-lt"/>
              <a:buAutoNum type="arabicPeriod"/>
            </a:pPr>
            <a:r>
              <a:rPr lang="en-US" sz="1100" i="1" dirty="0"/>
              <a:t>Uncertainty Reasoning with Large Language Models for Explainable Disease Diagnosis — </a:t>
            </a:r>
            <a:r>
              <a:rPr lang="en-US" sz="1100" i="1" dirty="0">
                <a:hlinkClick r:id="rId5"/>
              </a:rPr>
              <a:t>https://arxiv.org/html/2605.25566</a:t>
            </a:r>
            <a:endParaRPr lang="en-US" sz="1100" i="1" dirty="0"/>
          </a:p>
          <a:p>
            <a:pPr marL="228600" indent="-228600">
              <a:buFont typeface="+mj-lt"/>
              <a:buAutoNum type="arabicPeriod"/>
            </a:pPr>
            <a:endParaRPr lang="en-US" sz="1100" i="1" dirty="0"/>
          </a:p>
        </p:txBody>
      </p:sp>
      <p:sp>
        <p:nvSpPr>
          <p:cNvPr id="20" name="TextBox 19">
            <a:extLst>
              <a:ext uri="{FF2B5EF4-FFF2-40B4-BE49-F238E27FC236}">
                <a16:creationId xmlns:a16="http://schemas.microsoft.com/office/drawing/2014/main" id="{DEDB8E4A-652C-D480-767B-CB83A06F75C2}"/>
              </a:ext>
            </a:extLst>
          </p:cNvPr>
          <p:cNvSpPr txBox="1"/>
          <p:nvPr/>
        </p:nvSpPr>
        <p:spPr>
          <a:xfrm>
            <a:off x="4251960" y="4427034"/>
            <a:ext cx="3657600" cy="1277273"/>
          </a:xfrm>
          <a:prstGeom prst="rect">
            <a:avLst/>
          </a:prstGeom>
          <a:noFill/>
        </p:spPr>
        <p:txBody>
          <a:bodyPr wrap="square" rtlCol="0">
            <a:spAutoFit/>
          </a:bodyPr>
          <a:lstStyle/>
          <a:p>
            <a:pPr marL="228600" lvl="0" indent="-228600">
              <a:buFont typeface="+mj-lt"/>
              <a:buAutoNum type="arabicPeriod"/>
            </a:pPr>
            <a:r>
              <a:rPr lang="en-US" sz="1100" i="1" dirty="0" err="1"/>
              <a:t>Neurosymbolic</a:t>
            </a:r>
            <a:r>
              <a:rPr lang="en-US" sz="1100" i="1" dirty="0"/>
              <a:t> Auditing of Natural-Language Software Requirements (VeriMed) — </a:t>
            </a:r>
            <a:r>
              <a:rPr lang="en-US" sz="1100" i="1" dirty="0">
                <a:hlinkClick r:id="rId6"/>
              </a:rPr>
              <a:t>https://arxiv.org/html/2605.13817</a:t>
            </a:r>
            <a:endParaRPr lang="en-US" sz="1100" i="1" dirty="0"/>
          </a:p>
          <a:p>
            <a:pPr marL="228600" lvl="0" indent="-228600">
              <a:buFont typeface="+mj-lt"/>
              <a:buAutoNum type="arabicPeriod"/>
            </a:pPr>
            <a:r>
              <a:rPr lang="en-US" sz="1100" i="1" dirty="0"/>
              <a:t>ESBMC: A Survey of Its Evolution, Integration, and Future Directions in Formal Software Verification (see §11.2, </a:t>
            </a:r>
            <a:r>
              <a:rPr lang="en-US" sz="1100" i="1" dirty="0" err="1"/>
              <a:t>Neurosymbolic</a:t>
            </a:r>
            <a:r>
              <a:rPr lang="en-US" sz="1100" i="1" dirty="0"/>
              <a:t> Verification) — </a:t>
            </a:r>
            <a:r>
              <a:rPr lang="en-US" sz="1100" i="1" dirty="0">
                <a:hlinkClick r:id="rId7"/>
              </a:rPr>
              <a:t>https://arxiv.org/pdf/2605.26169</a:t>
            </a:r>
            <a:endParaRPr lang="en-US" sz="1100" i="1" dirty="0"/>
          </a:p>
        </p:txBody>
      </p:sp>
      <p:sp>
        <p:nvSpPr>
          <p:cNvPr id="21" name="TextBox 20">
            <a:extLst>
              <a:ext uri="{FF2B5EF4-FFF2-40B4-BE49-F238E27FC236}">
                <a16:creationId xmlns:a16="http://schemas.microsoft.com/office/drawing/2014/main" id="{542D8356-54A3-F7A2-DE6F-51AB84380ABA}"/>
              </a:ext>
            </a:extLst>
          </p:cNvPr>
          <p:cNvSpPr txBox="1"/>
          <p:nvPr/>
        </p:nvSpPr>
        <p:spPr>
          <a:xfrm>
            <a:off x="8001000" y="3952140"/>
            <a:ext cx="3657600" cy="1954381"/>
          </a:xfrm>
          <a:prstGeom prst="rect">
            <a:avLst/>
          </a:prstGeom>
          <a:noFill/>
        </p:spPr>
        <p:txBody>
          <a:bodyPr wrap="square" rtlCol="0">
            <a:spAutoFit/>
          </a:bodyPr>
          <a:lstStyle/>
          <a:p>
            <a:pPr marL="228600" lvl="0" indent="-228600">
              <a:buFont typeface="+mj-lt"/>
              <a:buAutoNum type="arabicPeriod"/>
            </a:pPr>
            <a:r>
              <a:rPr lang="en-US" sz="1100" i="1" dirty="0"/>
              <a:t>LLM+P: Empowering Large Language Models with Optimal Planning Proficiency — </a:t>
            </a:r>
            <a:r>
              <a:rPr lang="en-US" sz="1100" i="1" dirty="0">
                <a:hlinkClick r:id="rId8"/>
              </a:rPr>
              <a:t>https://www.semanticscholar.org/paper/LLM+P:-Empowering-Large-Language-Models-with-Liu-Jiang/003ef1cd670d01af05afa0d3c72d72228f494432</a:t>
            </a:r>
            <a:endParaRPr lang="en-US" sz="1100" i="1" dirty="0"/>
          </a:p>
          <a:p>
            <a:pPr marL="228600" lvl="0" indent="-228600">
              <a:buFont typeface="+mj-lt"/>
              <a:buAutoNum type="arabicPeriod"/>
            </a:pPr>
            <a:r>
              <a:rPr lang="en-US" sz="1100" i="1" dirty="0"/>
              <a:t>Teriyaki (GPT-3 generates PDDL plans) — cited secondhand inside: </a:t>
            </a:r>
            <a:r>
              <a:rPr lang="en-US" sz="1100" i="1" dirty="0">
                <a:hlinkClick r:id="rId9"/>
              </a:rPr>
              <a:t>https://arxiv.org/pdf/2507.23589</a:t>
            </a:r>
            <a:r>
              <a:rPr lang="en-US" sz="1100" i="1" dirty="0"/>
              <a:t> (§2.1.2)</a:t>
            </a:r>
          </a:p>
          <a:p>
            <a:pPr marL="228600" lvl="0" indent="-228600">
              <a:buFont typeface="+mj-lt"/>
              <a:buAutoNum type="arabicPeriod"/>
            </a:pPr>
            <a:r>
              <a:rPr lang="en-US" sz="1100" i="1" dirty="0"/>
              <a:t>ISR-LLM (Iterative Self-Refinement with validator) — cited secondhand inside the same survey: </a:t>
            </a:r>
            <a:r>
              <a:rPr lang="en-US" sz="1100" i="1" dirty="0">
                <a:hlinkClick r:id="rId9"/>
              </a:rPr>
              <a:t>https://arxiv.org/pdf/2507.23589</a:t>
            </a:r>
            <a:r>
              <a:rPr lang="en-US" sz="1100" i="1" dirty="0"/>
              <a:t> (§2.1.2)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The Baseline We Will Reproduce</a:t>
            </a:r>
            <a:endParaRPr lang="en-US" sz="3000" dirty="0"/>
          </a:p>
        </p:txBody>
      </p:sp>
      <p:sp>
        <p:nvSpPr>
          <p:cNvPr id="3" name="Shape 1"/>
          <p:cNvSpPr/>
          <p:nvPr/>
        </p:nvSpPr>
        <p:spPr>
          <a:xfrm>
            <a:off x="457200" y="1371600"/>
            <a:ext cx="4023360" cy="3017520"/>
          </a:xfrm>
          <a:prstGeom prst="roundRect">
            <a:avLst>
              <a:gd name="adj" fmla="val 2424"/>
            </a:avLst>
          </a:prstGeom>
          <a:solidFill>
            <a:srgbClr val="1E2761"/>
          </a:solidFill>
          <a:ln/>
        </p:spPr>
      </p:sp>
      <p:sp>
        <p:nvSpPr>
          <p:cNvPr id="4" name="Text 2"/>
          <p:cNvSpPr txBox="1"/>
          <p:nvPr/>
        </p:nvSpPr>
        <p:spPr>
          <a:xfrm>
            <a:off x="457200" y="1600200"/>
            <a:ext cx="4023360" cy="914400"/>
          </a:xfrm>
          <a:prstGeom prst="rect">
            <a:avLst/>
          </a:prstGeom>
          <a:noFill/>
          <a:ln/>
        </p:spPr>
        <p:txBody>
          <a:bodyPr wrap="square" lIns="0" tIns="0" rIns="0" bIns="0" rtlCol="0" anchor="ctr"/>
          <a:lstStyle/>
          <a:p>
            <a:pPr marL="0" indent="0" algn="ctr">
              <a:buNone/>
            </a:pPr>
            <a:r>
              <a:rPr lang="en-US" sz="4600" b="1" dirty="0">
                <a:solidFill>
                  <a:srgbClr val="FFFFFF"/>
                </a:solidFill>
                <a:latin typeface="Cambria" pitchFamily="34" charset="0"/>
                <a:ea typeface="Cambria" pitchFamily="34" charset="-122"/>
                <a:cs typeface="Cambria" pitchFamily="34" charset="-120"/>
              </a:rPr>
              <a:t>54.9%</a:t>
            </a:r>
            <a:endParaRPr lang="en-US" sz="4600" dirty="0"/>
          </a:p>
        </p:txBody>
      </p:sp>
      <p:sp>
        <p:nvSpPr>
          <p:cNvPr id="5" name="Text 3"/>
          <p:cNvSpPr txBox="1"/>
          <p:nvPr/>
        </p:nvSpPr>
        <p:spPr>
          <a:xfrm>
            <a:off x="640080" y="2514600"/>
            <a:ext cx="3657600" cy="502920"/>
          </a:xfrm>
          <a:prstGeom prst="rect">
            <a:avLst/>
          </a:prstGeom>
          <a:noFill/>
          <a:ln/>
        </p:spPr>
        <p:txBody>
          <a:bodyPr wrap="square" lIns="0" tIns="0" rIns="0" bIns="0" rtlCol="0" anchor="ctr"/>
          <a:lstStyle/>
          <a:p>
            <a:pPr marL="0" indent="0" algn="ctr">
              <a:buNone/>
            </a:pPr>
            <a:r>
              <a:rPr lang="en-US" sz="1250" dirty="0">
                <a:solidFill>
                  <a:srgbClr val="CADCFC"/>
                </a:solidFill>
                <a:latin typeface="Calibri" pitchFamily="34" charset="0"/>
                <a:ea typeface="Calibri" pitchFamily="34" charset="-122"/>
                <a:cs typeface="Calibri" pitchFamily="34" charset="-120"/>
              </a:rPr>
              <a:t>diagnostic accuracy — best-performing open LLM</a:t>
            </a:r>
            <a:endParaRPr lang="en-US" sz="1250" dirty="0"/>
          </a:p>
        </p:txBody>
      </p:sp>
      <p:sp>
        <p:nvSpPr>
          <p:cNvPr id="6" name="Shape 4"/>
          <p:cNvSpPr/>
          <p:nvPr/>
        </p:nvSpPr>
        <p:spPr>
          <a:xfrm>
            <a:off x="822960" y="3108960"/>
            <a:ext cx="3291840" cy="0"/>
          </a:xfrm>
          <a:prstGeom prst="line">
            <a:avLst/>
          </a:prstGeom>
          <a:noFill/>
          <a:ln w="12700">
            <a:solidFill>
              <a:srgbClr val="3C4790"/>
            </a:solidFill>
            <a:prstDash val="solid"/>
          </a:ln>
        </p:spPr>
      </p:sp>
      <p:sp>
        <p:nvSpPr>
          <p:cNvPr id="7" name="Text 5"/>
          <p:cNvSpPr txBox="1"/>
          <p:nvPr/>
        </p:nvSpPr>
        <p:spPr>
          <a:xfrm>
            <a:off x="640080" y="3246120"/>
            <a:ext cx="3657600" cy="1005840"/>
          </a:xfrm>
          <a:prstGeom prst="rect">
            <a:avLst/>
          </a:prstGeom>
          <a:noFill/>
          <a:ln/>
        </p:spPr>
        <p:txBody>
          <a:bodyPr wrap="square" lIns="0" tIns="0" rIns="0" bIns="0" rtlCol="0" anchor="ctr"/>
          <a:lstStyle/>
          <a:p>
            <a:pPr marL="0" indent="0" algn="ctr">
              <a:lnSpc>
                <a:spcPct val="125000"/>
              </a:lnSpc>
              <a:buNone/>
            </a:pPr>
            <a:r>
              <a:rPr lang="en-US" sz="1250" dirty="0">
                <a:solidFill>
                  <a:srgbClr val="FFFFFF"/>
                </a:solidFill>
                <a:latin typeface="Calibri" pitchFamily="34" charset="0"/>
                <a:ea typeface="Calibri" pitchFamily="34" charset="-122"/>
                <a:cs typeface="Calibri" pitchFamily="34" charset="-120"/>
              </a:rPr>
              <a:t>N = 2,400 patient cases</a:t>
            </a:r>
            <a:endParaRPr lang="en-US" sz="1250" dirty="0"/>
          </a:p>
          <a:p>
            <a:pPr marL="0" indent="0" algn="ctr">
              <a:lnSpc>
                <a:spcPct val="125000"/>
              </a:lnSpc>
              <a:buNone/>
            </a:pPr>
            <a:r>
              <a:rPr lang="en-US" sz="1250" dirty="0">
                <a:solidFill>
                  <a:srgbClr val="FFFFFF"/>
                </a:solidFill>
                <a:latin typeface="Calibri" pitchFamily="34" charset="0"/>
                <a:ea typeface="Calibri" pitchFamily="34" charset="-122"/>
                <a:cs typeface="Calibri" pitchFamily="34" charset="-120"/>
              </a:rPr>
              <a:t>4 abdominal pathologies</a:t>
            </a:r>
            <a:endParaRPr lang="en-US" sz="1250" dirty="0"/>
          </a:p>
          <a:p>
            <a:pPr marL="0" indent="0" algn="ctr">
              <a:lnSpc>
                <a:spcPct val="125000"/>
              </a:lnSpc>
              <a:buNone/>
            </a:pPr>
            <a:r>
              <a:rPr lang="en-US" sz="1250" dirty="0">
                <a:solidFill>
                  <a:srgbClr val="FFFFFF"/>
                </a:solidFill>
                <a:latin typeface="Calibri" pitchFamily="34" charset="0"/>
                <a:ea typeface="Calibri" pitchFamily="34" charset="-122"/>
                <a:cs typeface="Calibri" pitchFamily="34" charset="-120"/>
              </a:rPr>
              <a:t>MIMIC-CDM autonomous task</a:t>
            </a:r>
            <a:endParaRPr lang="en-US" sz="1250" dirty="0"/>
          </a:p>
        </p:txBody>
      </p:sp>
      <p:sp>
        <p:nvSpPr>
          <p:cNvPr id="8" name="Text 6"/>
          <p:cNvSpPr txBox="1"/>
          <p:nvPr/>
        </p:nvSpPr>
        <p:spPr>
          <a:xfrm>
            <a:off x="4754880" y="1417320"/>
            <a:ext cx="6949440" cy="365760"/>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Hager et al. (2024), Nature Medicine</a:t>
            </a:r>
            <a:endParaRPr lang="en-US" sz="1600" dirty="0"/>
          </a:p>
        </p:txBody>
      </p:sp>
      <p:sp>
        <p:nvSpPr>
          <p:cNvPr id="9" name="Shape 7"/>
          <p:cNvSpPr/>
          <p:nvPr/>
        </p:nvSpPr>
        <p:spPr>
          <a:xfrm>
            <a:off x="4754880" y="1874520"/>
            <a:ext cx="6949440" cy="594360"/>
          </a:xfrm>
          <a:prstGeom prst="roundRect">
            <a:avLst>
              <a:gd name="adj" fmla="val 9231"/>
            </a:avLst>
          </a:prstGeom>
          <a:solidFill>
            <a:srgbClr val="FFE8E4"/>
          </a:solidFill>
          <a:ln/>
        </p:spPr>
      </p:sp>
      <p:sp>
        <p:nvSpPr>
          <p:cNvPr id="10" name="Text 8"/>
          <p:cNvSpPr txBox="1"/>
          <p:nvPr/>
        </p:nvSpPr>
        <p:spPr>
          <a:xfrm>
            <a:off x="4983480" y="1874520"/>
            <a:ext cx="6492240" cy="594360"/>
          </a:xfrm>
          <a:prstGeom prst="rect">
            <a:avLst/>
          </a:prstGeom>
          <a:noFill/>
          <a:ln/>
        </p:spPr>
        <p:txBody>
          <a:bodyPr wrap="square" lIns="0" tIns="0" rIns="0" bIns="0" rtlCol="0" anchor="ctr"/>
          <a:lstStyle/>
          <a:p>
            <a:pPr marL="0" indent="0">
              <a:buNone/>
            </a:pPr>
            <a:r>
              <a:rPr lang="en-US" sz="1300" b="1" dirty="0">
                <a:solidFill>
                  <a:srgbClr val="B85042"/>
                </a:solidFill>
                <a:latin typeface="Calibri" pitchFamily="34" charset="0"/>
                <a:ea typeface="Calibri" pitchFamily="34" charset="-122"/>
                <a:cs typeface="Calibri" pitchFamily="34" charset="-120"/>
              </a:rPr>
              <a:t>This is the comparison point — NOT one of the four models.</a:t>
            </a:r>
            <a:endParaRPr lang="en-US" sz="1300" dirty="0"/>
          </a:p>
        </p:txBody>
      </p:sp>
      <p:sp>
        <p:nvSpPr>
          <p:cNvPr id="11" name="Text 9"/>
          <p:cNvSpPr txBox="1"/>
          <p:nvPr/>
        </p:nvSpPr>
        <p:spPr>
          <a:xfrm>
            <a:off x="4754880" y="2697480"/>
            <a:ext cx="6949440" cy="320040"/>
          </a:xfrm>
          <a:prstGeom prst="rect">
            <a:avLst/>
          </a:prstGeom>
          <a:noFill/>
          <a:ln/>
        </p:spPr>
        <p:txBody>
          <a:bodyPr wrap="square" lIns="0" tIns="0" rIns="0" bIns="0"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Dataset Access Status</a:t>
            </a:r>
            <a:endParaRPr lang="en-US" sz="1500" dirty="0"/>
          </a:p>
        </p:txBody>
      </p:sp>
      <p:sp>
        <p:nvSpPr>
          <p:cNvPr id="12" name="Text 10"/>
          <p:cNvSpPr txBox="1"/>
          <p:nvPr/>
        </p:nvSpPr>
        <p:spPr>
          <a:xfrm>
            <a:off x="4754880" y="3063240"/>
            <a:ext cx="6949440" cy="1417320"/>
          </a:xfrm>
          <a:prstGeom prst="rect">
            <a:avLst/>
          </a:prstGeom>
          <a:noFill/>
          <a:ln/>
        </p:spPr>
        <p:txBody>
          <a:bodyPr wrap="square" lIns="0" tIns="0" rIns="0" bIns="0" rtlCol="0" anchor="ctr"/>
          <a:lstStyle/>
          <a:p>
            <a:pPr marL="0" indent="0">
              <a:lnSpc>
                <a:spcPct val="120000"/>
              </a:lnSpc>
              <a:buNone/>
            </a:pPr>
            <a:r>
              <a:rPr lang="en-US" sz="1250" dirty="0">
                <a:solidFill>
                  <a:srgbClr val="2B2B2B"/>
                </a:solidFill>
                <a:latin typeface="Calibri" pitchFamily="34" charset="0"/>
                <a:ea typeface="Calibri" pitchFamily="34" charset="-122"/>
                <a:cs typeface="Calibri" pitchFamily="34" charset="-120"/>
              </a:rPr>
              <a:t>Public in the sense that anyone can apply — actual access requires PhysioNet credentialing: a CITI training completion report, a supervisor/reference for students, and a signed Data Use Agreement for each dataset. Approval can take several business days. Currently in progress for all team members.</a:t>
            </a:r>
            <a:endParaRPr lang="en-US" sz="1250" dirty="0"/>
          </a:p>
        </p:txBody>
      </p:sp>
      <p:sp>
        <p:nvSpPr>
          <p:cNvPr id="13" name="Shape 11"/>
          <p:cNvSpPr/>
          <p:nvPr/>
        </p:nvSpPr>
        <p:spPr>
          <a:xfrm>
            <a:off x="4754880" y="4572000"/>
            <a:ext cx="6949440" cy="1234440"/>
          </a:xfrm>
          <a:prstGeom prst="roundRect">
            <a:avLst>
              <a:gd name="adj" fmla="val 4444"/>
            </a:avLst>
          </a:prstGeom>
          <a:solidFill>
            <a:srgbClr val="F2F2F2"/>
          </a:solidFill>
          <a:ln/>
        </p:spPr>
      </p:sp>
      <p:sp>
        <p:nvSpPr>
          <p:cNvPr id="14" name="Text 12"/>
          <p:cNvSpPr txBox="1"/>
          <p:nvPr/>
        </p:nvSpPr>
        <p:spPr>
          <a:xfrm>
            <a:off x="4983480" y="4709160"/>
            <a:ext cx="6492240" cy="1005840"/>
          </a:xfrm>
          <a:prstGeom prst="rect">
            <a:avLst/>
          </a:prstGeom>
          <a:noFill/>
          <a:ln/>
        </p:spPr>
        <p:txBody>
          <a:bodyPr wrap="square" lIns="0" tIns="0" rIns="0" bIns="0" rtlCol="0" anchor="ctr"/>
          <a:lstStyle/>
          <a:p>
            <a:pPr marL="0" indent="0">
              <a:lnSpc>
                <a:spcPct val="130000"/>
              </a:lnSpc>
              <a:buNone/>
            </a:pPr>
            <a:r>
              <a:rPr lang="en-US" sz="1150" b="1" dirty="0">
                <a:solidFill>
                  <a:srgbClr val="028090"/>
                </a:solidFill>
                <a:latin typeface="Calibri" pitchFamily="34" charset="0"/>
                <a:ea typeface="Calibri" pitchFamily="34" charset="-122"/>
                <a:cs typeface="Calibri" pitchFamily="34" charset="-120"/>
              </a:rPr>
              <a:t>physionet.org/content/mimiciv/
physionet.org/content/mimic-iv-ext-cdm/1.0/
</a:t>
            </a:r>
            <a:r>
              <a:rPr lang="en-US" sz="1150" dirty="0">
                <a:solidFill>
                  <a:srgbClr val="2B2B2B"/>
                </a:solidFill>
                <a:latin typeface="Calibri" pitchFamily="34" charset="0"/>
                <a:ea typeface="Calibri" pitchFamily="34" charset="-122"/>
                <a:cs typeface="Calibri" pitchFamily="34" charset="-120"/>
              </a:rPr>
              <a:t>Baseline code (public): github.com/paulhager/MIMIC-Clinical-Decision-Making-Dataset</a:t>
            </a:r>
            <a:endParaRPr lang="en-US" sz="1150" dirty="0"/>
          </a:p>
        </p:txBody>
      </p:sp>
      <p:sp>
        <p:nvSpPr>
          <p:cNvPr id="15" name="Text 13"/>
          <p:cNvSpPr txBox="1"/>
          <p:nvPr/>
        </p:nvSpPr>
        <p:spPr>
          <a:xfrm>
            <a:off x="11430000" y="6537960"/>
            <a:ext cx="640080" cy="274320"/>
          </a:xfrm>
          <a:prstGeom prst="rect">
            <a:avLst/>
          </a:prstGeom>
          <a:noFill/>
          <a:ln/>
        </p:spPr>
        <p:txBody>
          <a:bodyPr wrap="square" lIns="0" tIns="0" rIns="0" bIns="0" rtlCol="0" anchor="ctr"/>
          <a:lstStyle/>
          <a:p>
            <a:pPr marL="0" indent="0" algn="r">
              <a:buNone/>
            </a:pPr>
            <a:r>
              <a:rPr lang="en-US" sz="1000" dirty="0">
                <a:solidFill>
                  <a:srgbClr val="999999"/>
                </a:solidFill>
                <a:latin typeface="Calibri" pitchFamily="34" charset="0"/>
                <a:ea typeface="Calibri" pitchFamily="34" charset="-122"/>
                <a:cs typeface="Calibri" pitchFamily="34" charset="-120"/>
              </a:rPr>
              <a:t>5 / 8</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Methodology — The Four Models</a:t>
            </a:r>
            <a:endParaRPr lang="en-US" sz="3000" dirty="0"/>
          </a:p>
        </p:txBody>
      </p:sp>
      <p:sp>
        <p:nvSpPr>
          <p:cNvPr id="3" name="Shape 1"/>
          <p:cNvSpPr/>
          <p:nvPr/>
        </p:nvSpPr>
        <p:spPr>
          <a:xfrm>
            <a:off x="457200" y="1417320"/>
            <a:ext cx="11247120" cy="960120"/>
          </a:xfrm>
          <a:prstGeom prst="roundRect">
            <a:avLst>
              <a:gd name="adj" fmla="val 6667"/>
            </a:avLst>
          </a:prstGeom>
          <a:solidFill>
            <a:srgbClr val="EAF6F5"/>
          </a:solidFill>
          <a:ln w="19050">
            <a:solidFill>
              <a:srgbClr val="028090"/>
            </a:solidFill>
            <a:prstDash val="solid"/>
          </a:ln>
        </p:spPr>
      </p:sp>
      <p:sp>
        <p:nvSpPr>
          <p:cNvPr id="4" name="Shape 2"/>
          <p:cNvSpPr/>
          <p:nvPr/>
        </p:nvSpPr>
        <p:spPr>
          <a:xfrm>
            <a:off x="685800" y="1600200"/>
            <a:ext cx="594360" cy="594360"/>
          </a:xfrm>
          <a:prstGeom prst="ellipse">
            <a:avLst/>
          </a:prstGeom>
          <a:solidFill>
            <a:srgbClr val="1E2761"/>
          </a:solidFill>
          <a:ln/>
        </p:spPr>
      </p:sp>
      <p:sp>
        <p:nvSpPr>
          <p:cNvPr id="5" name="Text 3"/>
          <p:cNvSpPr txBox="1"/>
          <p:nvPr/>
        </p:nvSpPr>
        <p:spPr>
          <a:xfrm>
            <a:off x="685800" y="1600200"/>
            <a:ext cx="594360" cy="59436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A</a:t>
            </a:r>
            <a:endParaRPr lang="en-US" sz="2200" dirty="0"/>
          </a:p>
        </p:txBody>
      </p:sp>
      <p:sp>
        <p:nvSpPr>
          <p:cNvPr id="6" name="Text 4"/>
          <p:cNvSpPr txBox="1"/>
          <p:nvPr/>
        </p:nvSpPr>
        <p:spPr>
          <a:xfrm>
            <a:off x="1508760" y="1513332"/>
            <a:ext cx="2743200" cy="320040"/>
          </a:xfrm>
          <a:prstGeom prst="rect">
            <a:avLst/>
          </a:prstGeom>
          <a:noFill/>
          <a:ln/>
        </p:spPr>
        <p:txBody>
          <a:bodyPr wrap="square" lIns="0" tIns="0" rIns="0" bIns="0" rtlCol="0" anchor="ctr"/>
          <a:lstStyle/>
          <a:p>
            <a:pPr marL="0" indent="0">
              <a:buNone/>
            </a:pPr>
            <a:r>
              <a:rPr lang="en-US" sz="1100" b="1" dirty="0">
                <a:solidFill>
                  <a:srgbClr val="888888"/>
                </a:solidFill>
                <a:latin typeface="Calibri" pitchFamily="34" charset="0"/>
                <a:ea typeface="Calibri" pitchFamily="34" charset="-122"/>
                <a:cs typeface="Calibri" pitchFamily="34" charset="-120"/>
              </a:rPr>
              <a:t>Model A</a:t>
            </a:r>
            <a:endParaRPr lang="en-US" sz="1100" dirty="0"/>
          </a:p>
        </p:txBody>
      </p:sp>
      <p:sp>
        <p:nvSpPr>
          <p:cNvPr id="7" name="Text 5"/>
          <p:cNvSpPr txBox="1"/>
          <p:nvPr/>
        </p:nvSpPr>
        <p:spPr>
          <a:xfrm>
            <a:off x="1508760" y="1805940"/>
            <a:ext cx="7315200" cy="365760"/>
          </a:xfrm>
          <a:prstGeom prst="rect">
            <a:avLst/>
          </a:prstGeom>
          <a:noFill/>
          <a:ln/>
        </p:spPr>
        <p:txBody>
          <a:bodyPr wrap="square" lIns="0" tIns="0" rIns="0" bIns="0" rtlCol="0" anchor="ctr"/>
          <a:lstStyle/>
          <a:p>
            <a:pPr marL="0" indent="0">
              <a:buNone/>
            </a:pPr>
            <a:r>
              <a:rPr lang="en-US" sz="1500" b="1" dirty="0">
                <a:solidFill>
                  <a:srgbClr val="2B2B2B"/>
                </a:solidFill>
                <a:latin typeface="Cambria" pitchFamily="34" charset="0"/>
                <a:ea typeface="Cambria" pitchFamily="34" charset="-122"/>
                <a:cs typeface="Cambria" pitchFamily="34" charset="-120"/>
              </a:rPr>
              <a:t>Direct LLM Plan Generation</a:t>
            </a:r>
            <a:endParaRPr lang="en-US" sz="1500" dirty="0"/>
          </a:p>
        </p:txBody>
      </p:sp>
      <p:sp>
        <p:nvSpPr>
          <p:cNvPr id="8" name="Shape 6"/>
          <p:cNvSpPr/>
          <p:nvPr/>
        </p:nvSpPr>
        <p:spPr>
          <a:xfrm>
            <a:off x="10195560" y="1714500"/>
            <a:ext cx="1280160" cy="365760"/>
          </a:xfrm>
          <a:prstGeom prst="roundRect">
            <a:avLst>
              <a:gd name="adj" fmla="val 50000"/>
            </a:avLst>
          </a:prstGeom>
          <a:solidFill>
            <a:srgbClr val="028090"/>
          </a:solidFill>
          <a:ln/>
        </p:spPr>
      </p:sp>
      <p:sp>
        <p:nvSpPr>
          <p:cNvPr id="9" name="Text 7"/>
          <p:cNvSpPr txBox="1"/>
          <p:nvPr/>
        </p:nvSpPr>
        <p:spPr>
          <a:xfrm>
            <a:off x="10195560" y="1714500"/>
            <a:ext cx="12801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298A</a:t>
            </a:r>
            <a:endParaRPr lang="en-US" sz="1100" dirty="0"/>
          </a:p>
        </p:txBody>
      </p:sp>
      <p:sp>
        <p:nvSpPr>
          <p:cNvPr id="10" name="Text 8"/>
          <p:cNvSpPr txBox="1"/>
          <p:nvPr/>
        </p:nvSpPr>
        <p:spPr>
          <a:xfrm>
            <a:off x="1508760" y="1984248"/>
            <a:ext cx="8503920" cy="320040"/>
          </a:xfrm>
          <a:prstGeom prst="rect">
            <a:avLst/>
          </a:prstGeom>
          <a:noFill/>
          <a:ln/>
        </p:spPr>
        <p:txBody>
          <a:bodyPr wrap="square" lIns="0" tIns="0" rIns="0" bIns="0" rtlCol="0" anchor="ctr"/>
          <a:lstStyle/>
          <a:p>
            <a:pPr marL="0" indent="0">
              <a:buNone/>
            </a:pPr>
            <a:r>
              <a:rPr lang="en-US" sz="1050" i="1" dirty="0">
                <a:solidFill>
                  <a:srgbClr val="028090"/>
                </a:solidFill>
                <a:latin typeface="Calibri" pitchFamily="34" charset="0"/>
                <a:ea typeface="Calibri" pitchFamily="34" charset="-122"/>
                <a:cs typeface="Calibri" pitchFamily="34" charset="-120"/>
              </a:rPr>
              <a:t>Built first — every other model needs a plan to verify, repair, or compare against.</a:t>
            </a:r>
            <a:endParaRPr lang="en-US" sz="1050" dirty="0"/>
          </a:p>
        </p:txBody>
      </p:sp>
      <p:sp>
        <p:nvSpPr>
          <p:cNvPr id="11" name="Shape 9"/>
          <p:cNvSpPr/>
          <p:nvPr/>
        </p:nvSpPr>
        <p:spPr>
          <a:xfrm>
            <a:off x="457200" y="2542032"/>
            <a:ext cx="11247120" cy="777240"/>
          </a:xfrm>
          <a:prstGeom prst="roundRect">
            <a:avLst>
              <a:gd name="adj" fmla="val 8235"/>
            </a:avLst>
          </a:prstGeom>
          <a:solidFill>
            <a:srgbClr val="F2F2F2"/>
          </a:solidFill>
          <a:ln/>
        </p:spPr>
      </p:sp>
      <p:sp>
        <p:nvSpPr>
          <p:cNvPr id="12" name="Shape 10"/>
          <p:cNvSpPr/>
          <p:nvPr/>
        </p:nvSpPr>
        <p:spPr>
          <a:xfrm>
            <a:off x="685800" y="2633472"/>
            <a:ext cx="594360" cy="594360"/>
          </a:xfrm>
          <a:prstGeom prst="ellipse">
            <a:avLst/>
          </a:prstGeom>
          <a:solidFill>
            <a:srgbClr val="028090"/>
          </a:solidFill>
          <a:ln/>
        </p:spPr>
      </p:sp>
      <p:sp>
        <p:nvSpPr>
          <p:cNvPr id="13" name="Text 11"/>
          <p:cNvSpPr txBox="1"/>
          <p:nvPr/>
        </p:nvSpPr>
        <p:spPr>
          <a:xfrm>
            <a:off x="685800" y="2633472"/>
            <a:ext cx="594360" cy="59436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B</a:t>
            </a:r>
            <a:endParaRPr lang="en-US" sz="2200" dirty="0"/>
          </a:p>
        </p:txBody>
      </p:sp>
      <p:sp>
        <p:nvSpPr>
          <p:cNvPr id="14" name="Text 12"/>
          <p:cNvSpPr txBox="1"/>
          <p:nvPr/>
        </p:nvSpPr>
        <p:spPr>
          <a:xfrm>
            <a:off x="1508760" y="2546604"/>
            <a:ext cx="2743200" cy="320040"/>
          </a:xfrm>
          <a:prstGeom prst="rect">
            <a:avLst/>
          </a:prstGeom>
          <a:noFill/>
          <a:ln/>
        </p:spPr>
        <p:txBody>
          <a:bodyPr wrap="square" lIns="0" tIns="0" rIns="0" bIns="0" rtlCol="0" anchor="ctr"/>
          <a:lstStyle/>
          <a:p>
            <a:pPr marL="0" indent="0">
              <a:buNone/>
            </a:pPr>
            <a:r>
              <a:rPr lang="en-US" sz="1100" b="1" dirty="0">
                <a:solidFill>
                  <a:srgbClr val="888888"/>
                </a:solidFill>
                <a:latin typeface="Calibri" pitchFamily="34" charset="0"/>
                <a:ea typeface="Calibri" pitchFamily="34" charset="-122"/>
                <a:cs typeface="Calibri" pitchFamily="34" charset="-120"/>
              </a:rPr>
              <a:t>Model B</a:t>
            </a:r>
            <a:endParaRPr lang="en-US" sz="1100" dirty="0"/>
          </a:p>
        </p:txBody>
      </p:sp>
      <p:sp>
        <p:nvSpPr>
          <p:cNvPr id="15" name="Text 13"/>
          <p:cNvSpPr txBox="1"/>
          <p:nvPr/>
        </p:nvSpPr>
        <p:spPr>
          <a:xfrm>
            <a:off x="1508760" y="2839212"/>
            <a:ext cx="7315200" cy="365760"/>
          </a:xfrm>
          <a:prstGeom prst="rect">
            <a:avLst/>
          </a:prstGeom>
          <a:noFill/>
          <a:ln/>
        </p:spPr>
        <p:txBody>
          <a:bodyPr wrap="square" lIns="0" tIns="0" rIns="0" bIns="0" rtlCol="0" anchor="ctr"/>
          <a:lstStyle/>
          <a:p>
            <a:pPr marL="0" indent="0">
              <a:buNone/>
            </a:pPr>
            <a:r>
              <a:rPr lang="en-US" sz="1500" b="1" dirty="0">
                <a:solidFill>
                  <a:srgbClr val="2B2B2B"/>
                </a:solidFill>
                <a:latin typeface="Cambria" pitchFamily="34" charset="0"/>
                <a:ea typeface="Cambria" pitchFamily="34" charset="-122"/>
                <a:cs typeface="Cambria" pitchFamily="34" charset="-120"/>
              </a:rPr>
              <a:t>NL / Clinical-Note to Formal Spec Translation</a:t>
            </a:r>
            <a:endParaRPr lang="en-US" sz="1500" dirty="0"/>
          </a:p>
        </p:txBody>
      </p:sp>
      <p:sp>
        <p:nvSpPr>
          <p:cNvPr id="16" name="Shape 14"/>
          <p:cNvSpPr/>
          <p:nvPr/>
        </p:nvSpPr>
        <p:spPr>
          <a:xfrm>
            <a:off x="10195560" y="2747772"/>
            <a:ext cx="1280160" cy="365760"/>
          </a:xfrm>
          <a:prstGeom prst="roundRect">
            <a:avLst>
              <a:gd name="adj" fmla="val 50000"/>
            </a:avLst>
          </a:prstGeom>
          <a:solidFill>
            <a:srgbClr val="FFFFFF"/>
          </a:solidFill>
          <a:ln w="12700">
            <a:solidFill>
              <a:srgbClr val="AAAAAA"/>
            </a:solidFill>
            <a:prstDash val="solid"/>
          </a:ln>
        </p:spPr>
      </p:sp>
      <p:sp>
        <p:nvSpPr>
          <p:cNvPr id="17" name="Text 15"/>
          <p:cNvSpPr txBox="1"/>
          <p:nvPr/>
        </p:nvSpPr>
        <p:spPr>
          <a:xfrm>
            <a:off x="10195560" y="2747772"/>
            <a:ext cx="1280160" cy="365760"/>
          </a:xfrm>
          <a:prstGeom prst="rect">
            <a:avLst/>
          </a:prstGeom>
          <a:noFill/>
          <a:ln/>
        </p:spPr>
        <p:txBody>
          <a:bodyPr wrap="square" lIns="0" tIns="0" rIns="0" bIns="0" rtlCol="0" anchor="ctr"/>
          <a:lstStyle/>
          <a:p>
            <a:pPr marL="0" indent="0" algn="ctr">
              <a:buNone/>
            </a:pPr>
            <a:r>
              <a:rPr lang="en-US" sz="1100" b="1" dirty="0">
                <a:solidFill>
                  <a:srgbClr val="666666"/>
                </a:solidFill>
                <a:latin typeface="Calibri" pitchFamily="34" charset="0"/>
                <a:ea typeface="Calibri" pitchFamily="34" charset="-122"/>
                <a:cs typeface="Calibri" pitchFamily="34" charset="-120"/>
              </a:rPr>
              <a:t>298B</a:t>
            </a:r>
            <a:endParaRPr lang="en-US" sz="1100" dirty="0"/>
          </a:p>
        </p:txBody>
      </p:sp>
      <p:sp>
        <p:nvSpPr>
          <p:cNvPr id="18" name="Shape 16"/>
          <p:cNvSpPr/>
          <p:nvPr/>
        </p:nvSpPr>
        <p:spPr>
          <a:xfrm>
            <a:off x="457200" y="3483864"/>
            <a:ext cx="11247120" cy="777240"/>
          </a:xfrm>
          <a:prstGeom prst="roundRect">
            <a:avLst>
              <a:gd name="adj" fmla="val 8235"/>
            </a:avLst>
          </a:prstGeom>
          <a:solidFill>
            <a:srgbClr val="F2F2F2"/>
          </a:solidFill>
          <a:ln/>
        </p:spPr>
      </p:sp>
      <p:sp>
        <p:nvSpPr>
          <p:cNvPr id="19" name="Shape 17"/>
          <p:cNvSpPr/>
          <p:nvPr/>
        </p:nvSpPr>
        <p:spPr>
          <a:xfrm>
            <a:off x="685800" y="3575304"/>
            <a:ext cx="594360" cy="594360"/>
          </a:xfrm>
          <a:prstGeom prst="ellipse">
            <a:avLst/>
          </a:prstGeom>
          <a:solidFill>
            <a:srgbClr val="028090"/>
          </a:solidFill>
          <a:ln/>
        </p:spPr>
      </p:sp>
      <p:sp>
        <p:nvSpPr>
          <p:cNvPr id="20" name="Text 18"/>
          <p:cNvSpPr txBox="1"/>
          <p:nvPr/>
        </p:nvSpPr>
        <p:spPr>
          <a:xfrm>
            <a:off x="685800" y="3575304"/>
            <a:ext cx="594360" cy="59436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C</a:t>
            </a:r>
            <a:endParaRPr lang="en-US" sz="2200" dirty="0"/>
          </a:p>
        </p:txBody>
      </p:sp>
      <p:sp>
        <p:nvSpPr>
          <p:cNvPr id="21" name="Text 19"/>
          <p:cNvSpPr txBox="1"/>
          <p:nvPr/>
        </p:nvSpPr>
        <p:spPr>
          <a:xfrm>
            <a:off x="1508760" y="3488436"/>
            <a:ext cx="2743200" cy="320040"/>
          </a:xfrm>
          <a:prstGeom prst="rect">
            <a:avLst/>
          </a:prstGeom>
          <a:noFill/>
          <a:ln/>
        </p:spPr>
        <p:txBody>
          <a:bodyPr wrap="square" lIns="0" tIns="0" rIns="0" bIns="0" rtlCol="0" anchor="ctr"/>
          <a:lstStyle/>
          <a:p>
            <a:pPr marL="0" indent="0">
              <a:buNone/>
            </a:pPr>
            <a:r>
              <a:rPr lang="en-US" sz="1100" b="1" dirty="0">
                <a:solidFill>
                  <a:srgbClr val="888888"/>
                </a:solidFill>
                <a:latin typeface="Calibri" pitchFamily="34" charset="0"/>
                <a:ea typeface="Calibri" pitchFamily="34" charset="-122"/>
                <a:cs typeface="Calibri" pitchFamily="34" charset="-120"/>
              </a:rPr>
              <a:t>Model C</a:t>
            </a:r>
            <a:endParaRPr lang="en-US" sz="1100" dirty="0"/>
          </a:p>
        </p:txBody>
      </p:sp>
      <p:sp>
        <p:nvSpPr>
          <p:cNvPr id="22" name="Text 20"/>
          <p:cNvSpPr txBox="1"/>
          <p:nvPr/>
        </p:nvSpPr>
        <p:spPr>
          <a:xfrm>
            <a:off x="1508760" y="3781044"/>
            <a:ext cx="7315200" cy="365760"/>
          </a:xfrm>
          <a:prstGeom prst="rect">
            <a:avLst/>
          </a:prstGeom>
          <a:noFill/>
          <a:ln/>
        </p:spPr>
        <p:txBody>
          <a:bodyPr wrap="square" lIns="0" tIns="0" rIns="0" bIns="0" rtlCol="0" anchor="ctr"/>
          <a:lstStyle/>
          <a:p>
            <a:pPr marL="0" indent="0">
              <a:buNone/>
            </a:pPr>
            <a:r>
              <a:rPr lang="en-US" sz="1500" b="1" dirty="0">
                <a:solidFill>
                  <a:srgbClr val="2B2B2B"/>
                </a:solidFill>
                <a:latin typeface="Cambria" pitchFamily="34" charset="0"/>
                <a:ea typeface="Cambria" pitchFamily="34" charset="-122"/>
                <a:cs typeface="Cambria" pitchFamily="34" charset="-120"/>
              </a:rPr>
              <a:t>LLM + Solver-in-the-Loop Counterexample Repair</a:t>
            </a:r>
            <a:endParaRPr lang="en-US" sz="1500" dirty="0"/>
          </a:p>
        </p:txBody>
      </p:sp>
      <p:sp>
        <p:nvSpPr>
          <p:cNvPr id="23" name="Shape 21"/>
          <p:cNvSpPr/>
          <p:nvPr/>
        </p:nvSpPr>
        <p:spPr>
          <a:xfrm>
            <a:off x="10195560" y="3689604"/>
            <a:ext cx="1280160" cy="365760"/>
          </a:xfrm>
          <a:prstGeom prst="roundRect">
            <a:avLst>
              <a:gd name="adj" fmla="val 50000"/>
            </a:avLst>
          </a:prstGeom>
          <a:solidFill>
            <a:srgbClr val="FFFFFF"/>
          </a:solidFill>
          <a:ln w="12700">
            <a:solidFill>
              <a:srgbClr val="AAAAAA"/>
            </a:solidFill>
            <a:prstDash val="solid"/>
          </a:ln>
        </p:spPr>
      </p:sp>
      <p:sp>
        <p:nvSpPr>
          <p:cNvPr id="24" name="Text 22"/>
          <p:cNvSpPr txBox="1"/>
          <p:nvPr/>
        </p:nvSpPr>
        <p:spPr>
          <a:xfrm>
            <a:off x="10195560" y="3689604"/>
            <a:ext cx="1280160" cy="365760"/>
          </a:xfrm>
          <a:prstGeom prst="rect">
            <a:avLst/>
          </a:prstGeom>
          <a:noFill/>
          <a:ln/>
        </p:spPr>
        <p:txBody>
          <a:bodyPr wrap="square" lIns="0" tIns="0" rIns="0" bIns="0" rtlCol="0" anchor="ctr"/>
          <a:lstStyle/>
          <a:p>
            <a:pPr marL="0" indent="0" algn="ctr">
              <a:buNone/>
            </a:pPr>
            <a:r>
              <a:rPr lang="en-US" sz="1100" b="1" dirty="0">
                <a:solidFill>
                  <a:srgbClr val="666666"/>
                </a:solidFill>
                <a:latin typeface="Calibri" pitchFamily="34" charset="0"/>
                <a:ea typeface="Calibri" pitchFamily="34" charset="-122"/>
                <a:cs typeface="Calibri" pitchFamily="34" charset="-120"/>
              </a:rPr>
              <a:t>298B</a:t>
            </a:r>
            <a:endParaRPr lang="en-US" sz="1100" dirty="0"/>
          </a:p>
        </p:txBody>
      </p:sp>
      <p:sp>
        <p:nvSpPr>
          <p:cNvPr id="25" name="Shape 23"/>
          <p:cNvSpPr/>
          <p:nvPr/>
        </p:nvSpPr>
        <p:spPr>
          <a:xfrm>
            <a:off x="457200" y="4425696"/>
            <a:ext cx="11247120" cy="777240"/>
          </a:xfrm>
          <a:prstGeom prst="roundRect">
            <a:avLst>
              <a:gd name="adj" fmla="val 8235"/>
            </a:avLst>
          </a:prstGeom>
          <a:solidFill>
            <a:srgbClr val="F2F2F2"/>
          </a:solidFill>
          <a:ln/>
        </p:spPr>
      </p:sp>
      <p:sp>
        <p:nvSpPr>
          <p:cNvPr id="26" name="Shape 24"/>
          <p:cNvSpPr/>
          <p:nvPr/>
        </p:nvSpPr>
        <p:spPr>
          <a:xfrm>
            <a:off x="685800" y="4517136"/>
            <a:ext cx="594360" cy="594360"/>
          </a:xfrm>
          <a:prstGeom prst="ellipse">
            <a:avLst/>
          </a:prstGeom>
          <a:solidFill>
            <a:srgbClr val="028090"/>
          </a:solidFill>
          <a:ln/>
        </p:spPr>
      </p:sp>
      <p:sp>
        <p:nvSpPr>
          <p:cNvPr id="27" name="Text 25"/>
          <p:cNvSpPr txBox="1"/>
          <p:nvPr/>
        </p:nvSpPr>
        <p:spPr>
          <a:xfrm>
            <a:off x="685800" y="4517136"/>
            <a:ext cx="594360" cy="59436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D</a:t>
            </a:r>
            <a:endParaRPr lang="en-US" sz="2200" dirty="0"/>
          </a:p>
        </p:txBody>
      </p:sp>
      <p:sp>
        <p:nvSpPr>
          <p:cNvPr id="28" name="Text 26"/>
          <p:cNvSpPr txBox="1"/>
          <p:nvPr/>
        </p:nvSpPr>
        <p:spPr>
          <a:xfrm>
            <a:off x="1508760" y="4430268"/>
            <a:ext cx="2743200" cy="320040"/>
          </a:xfrm>
          <a:prstGeom prst="rect">
            <a:avLst/>
          </a:prstGeom>
          <a:noFill/>
          <a:ln/>
        </p:spPr>
        <p:txBody>
          <a:bodyPr wrap="square" lIns="0" tIns="0" rIns="0" bIns="0" rtlCol="0" anchor="ctr"/>
          <a:lstStyle/>
          <a:p>
            <a:pPr marL="0" indent="0">
              <a:buNone/>
            </a:pPr>
            <a:r>
              <a:rPr lang="en-US" sz="1100" b="1" dirty="0">
                <a:solidFill>
                  <a:srgbClr val="888888"/>
                </a:solidFill>
                <a:latin typeface="Calibri" pitchFamily="34" charset="0"/>
                <a:ea typeface="Calibri" pitchFamily="34" charset="-122"/>
                <a:cs typeface="Calibri" pitchFamily="34" charset="-120"/>
              </a:rPr>
              <a:t>Model D</a:t>
            </a:r>
            <a:endParaRPr lang="en-US" sz="1100" dirty="0"/>
          </a:p>
        </p:txBody>
      </p:sp>
      <p:sp>
        <p:nvSpPr>
          <p:cNvPr id="29" name="Text 27"/>
          <p:cNvSpPr txBox="1"/>
          <p:nvPr/>
        </p:nvSpPr>
        <p:spPr>
          <a:xfrm>
            <a:off x="1508760" y="4722876"/>
            <a:ext cx="7315200" cy="365760"/>
          </a:xfrm>
          <a:prstGeom prst="rect">
            <a:avLst/>
          </a:prstGeom>
          <a:noFill/>
          <a:ln/>
        </p:spPr>
        <p:txBody>
          <a:bodyPr wrap="square" lIns="0" tIns="0" rIns="0" bIns="0" rtlCol="0" anchor="ctr"/>
          <a:lstStyle/>
          <a:p>
            <a:pPr marL="0" indent="0">
              <a:buNone/>
            </a:pPr>
            <a:r>
              <a:rPr lang="en-US" sz="1500" b="1" dirty="0">
                <a:solidFill>
                  <a:srgbClr val="2B2B2B"/>
                </a:solidFill>
                <a:latin typeface="Cambria" pitchFamily="34" charset="0"/>
                <a:ea typeface="Cambria" pitchFamily="34" charset="-122"/>
                <a:cs typeface="Cambria" pitchFamily="34" charset="-120"/>
              </a:rPr>
              <a:t>Classical PDDL Planner Hybrid</a:t>
            </a:r>
            <a:endParaRPr lang="en-US" sz="1500" dirty="0"/>
          </a:p>
        </p:txBody>
      </p:sp>
      <p:sp>
        <p:nvSpPr>
          <p:cNvPr id="30" name="Shape 28"/>
          <p:cNvSpPr/>
          <p:nvPr/>
        </p:nvSpPr>
        <p:spPr>
          <a:xfrm>
            <a:off x="10195560" y="4631436"/>
            <a:ext cx="1280160" cy="365760"/>
          </a:xfrm>
          <a:prstGeom prst="roundRect">
            <a:avLst>
              <a:gd name="adj" fmla="val 50000"/>
            </a:avLst>
          </a:prstGeom>
          <a:solidFill>
            <a:srgbClr val="FFFFFF"/>
          </a:solidFill>
          <a:ln w="12700">
            <a:solidFill>
              <a:srgbClr val="AAAAAA"/>
            </a:solidFill>
            <a:prstDash val="solid"/>
          </a:ln>
        </p:spPr>
      </p:sp>
      <p:sp>
        <p:nvSpPr>
          <p:cNvPr id="31" name="Text 29"/>
          <p:cNvSpPr txBox="1"/>
          <p:nvPr/>
        </p:nvSpPr>
        <p:spPr>
          <a:xfrm>
            <a:off x="10195560" y="4631436"/>
            <a:ext cx="1280160" cy="365760"/>
          </a:xfrm>
          <a:prstGeom prst="rect">
            <a:avLst/>
          </a:prstGeom>
          <a:noFill/>
          <a:ln/>
        </p:spPr>
        <p:txBody>
          <a:bodyPr wrap="square" lIns="0" tIns="0" rIns="0" bIns="0" rtlCol="0" anchor="ctr"/>
          <a:lstStyle/>
          <a:p>
            <a:pPr marL="0" indent="0" algn="ctr">
              <a:buNone/>
            </a:pPr>
            <a:r>
              <a:rPr lang="en-US" sz="1100" b="1" dirty="0">
                <a:solidFill>
                  <a:srgbClr val="666666"/>
                </a:solidFill>
                <a:latin typeface="Calibri" pitchFamily="34" charset="0"/>
                <a:ea typeface="Calibri" pitchFamily="34" charset="-122"/>
                <a:cs typeface="Calibri" pitchFamily="34" charset="-120"/>
              </a:rPr>
              <a:t>298B</a:t>
            </a:r>
            <a:endParaRPr lang="en-US" sz="1100" dirty="0"/>
          </a:p>
        </p:txBody>
      </p:sp>
      <p:sp>
        <p:nvSpPr>
          <p:cNvPr id="32" name="Shape 30"/>
          <p:cNvSpPr/>
          <p:nvPr/>
        </p:nvSpPr>
        <p:spPr>
          <a:xfrm>
            <a:off x="457200" y="5413248"/>
            <a:ext cx="11247120" cy="594360"/>
          </a:xfrm>
          <a:prstGeom prst="roundRect">
            <a:avLst>
              <a:gd name="adj" fmla="val 9231"/>
            </a:avLst>
          </a:prstGeom>
          <a:solidFill>
            <a:srgbClr val="B85042"/>
          </a:solidFill>
          <a:ln/>
        </p:spPr>
      </p:sp>
      <p:sp>
        <p:nvSpPr>
          <p:cNvPr id="33" name="Text 31"/>
          <p:cNvSpPr txBox="1"/>
          <p:nvPr/>
        </p:nvSpPr>
        <p:spPr>
          <a:xfrm>
            <a:off x="640080" y="5413248"/>
            <a:ext cx="10789920" cy="59436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Baseline (Hager et al., 54.9%) is the comparison point — not one of the four models.</a:t>
            </a:r>
            <a:endParaRPr lang="en-US" sz="1250" dirty="0"/>
          </a:p>
        </p:txBody>
      </p:sp>
      <p:sp>
        <p:nvSpPr>
          <p:cNvPr id="34" name="Text 32"/>
          <p:cNvSpPr txBox="1"/>
          <p:nvPr/>
        </p:nvSpPr>
        <p:spPr>
          <a:xfrm>
            <a:off x="11430000" y="6537960"/>
            <a:ext cx="640080" cy="274320"/>
          </a:xfrm>
          <a:prstGeom prst="rect">
            <a:avLst/>
          </a:prstGeom>
          <a:noFill/>
          <a:ln/>
        </p:spPr>
        <p:txBody>
          <a:bodyPr wrap="square" lIns="0" tIns="0" rIns="0" bIns="0" rtlCol="0" anchor="ctr"/>
          <a:lstStyle/>
          <a:p>
            <a:pPr marL="0" indent="0" algn="r">
              <a:buNone/>
            </a:pPr>
            <a:r>
              <a:rPr lang="en-US" sz="1000" dirty="0">
                <a:solidFill>
                  <a:srgbClr val="999999"/>
                </a:solidFill>
                <a:latin typeface="Calibri" pitchFamily="34" charset="0"/>
                <a:ea typeface="Calibri" pitchFamily="34" charset="-122"/>
                <a:cs typeface="Calibri" pitchFamily="34" charset="-120"/>
              </a:rPr>
              <a:t>6 / 8</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Data and Expected Outcome</a:t>
            </a:r>
            <a:endParaRPr lang="en-US" sz="3000" dirty="0"/>
          </a:p>
        </p:txBody>
      </p:sp>
      <p:sp>
        <p:nvSpPr>
          <p:cNvPr id="3" name="Text 1"/>
          <p:cNvSpPr txBox="1"/>
          <p:nvPr/>
        </p:nvSpPr>
        <p:spPr>
          <a:xfrm>
            <a:off x="457200" y="1371600"/>
            <a:ext cx="5486400" cy="365760"/>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Dataset</a:t>
            </a:r>
            <a:endParaRPr lang="en-US" sz="1600" dirty="0"/>
          </a:p>
        </p:txBody>
      </p:sp>
      <p:sp>
        <p:nvSpPr>
          <p:cNvPr id="4" name="Shape 2"/>
          <p:cNvSpPr/>
          <p:nvPr/>
        </p:nvSpPr>
        <p:spPr>
          <a:xfrm>
            <a:off x="457200" y="1828800"/>
            <a:ext cx="5486400" cy="1234440"/>
          </a:xfrm>
          <a:prstGeom prst="roundRect">
            <a:avLst>
              <a:gd name="adj" fmla="val 5185"/>
            </a:avLst>
          </a:prstGeom>
          <a:solidFill>
            <a:srgbClr val="F2F2F2"/>
          </a:solidFill>
          <a:ln/>
        </p:spPr>
      </p:sp>
      <p:sp>
        <p:nvSpPr>
          <p:cNvPr id="5" name="Text 3"/>
          <p:cNvSpPr txBox="1"/>
          <p:nvPr/>
        </p:nvSpPr>
        <p:spPr>
          <a:xfrm>
            <a:off x="640080" y="1920240"/>
            <a:ext cx="2011680" cy="594360"/>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383,220</a:t>
            </a:r>
            <a:endParaRPr lang="en-US" sz="2600" dirty="0"/>
          </a:p>
        </p:txBody>
      </p:sp>
      <p:sp>
        <p:nvSpPr>
          <p:cNvPr id="6" name="Text 4"/>
          <p:cNvSpPr txBox="1"/>
          <p:nvPr/>
        </p:nvSpPr>
        <p:spPr>
          <a:xfrm>
            <a:off x="640080" y="2514600"/>
            <a:ext cx="5120640" cy="502920"/>
          </a:xfrm>
          <a:prstGeom prst="rect">
            <a:avLst/>
          </a:prstGeom>
          <a:noFill/>
          <a:ln/>
        </p:spPr>
        <p:txBody>
          <a:bodyPr wrap="square" lIns="0" tIns="0" rIns="0" bIns="0" rtlCol="0" anchor="ctr"/>
          <a:lstStyle/>
          <a:p>
            <a:pPr marL="0" indent="0">
              <a:lnSpc>
                <a:spcPct val="110000"/>
              </a:lnSpc>
              <a:buNone/>
            </a:pPr>
            <a:r>
              <a:rPr lang="en-US" sz="1100" dirty="0">
                <a:solidFill>
                  <a:srgbClr val="2B2B2B"/>
                </a:solidFill>
                <a:latin typeface="Calibri" pitchFamily="34" charset="0"/>
                <a:ea typeface="Calibri" pitchFamily="34" charset="-122"/>
                <a:cs typeface="Calibri" pitchFamily="34" charset="-120"/>
              </a:rPr>
              <a:t>patients, (524,520) admissions — full MIMIC-IV database (2008–2019)</a:t>
            </a:r>
            <a:endParaRPr lang="en-US" sz="1100" dirty="0"/>
          </a:p>
        </p:txBody>
      </p:sp>
      <p:sp>
        <p:nvSpPr>
          <p:cNvPr id="7" name="Shape 5"/>
          <p:cNvSpPr/>
          <p:nvPr/>
        </p:nvSpPr>
        <p:spPr>
          <a:xfrm>
            <a:off x="457200" y="3200400"/>
            <a:ext cx="5486400" cy="1234440"/>
          </a:xfrm>
          <a:prstGeom prst="roundRect">
            <a:avLst>
              <a:gd name="adj" fmla="val 5185"/>
            </a:avLst>
          </a:prstGeom>
          <a:solidFill>
            <a:srgbClr val="F2F2F2"/>
          </a:solidFill>
          <a:ln/>
        </p:spPr>
      </p:sp>
      <p:sp>
        <p:nvSpPr>
          <p:cNvPr id="8" name="Text 6"/>
          <p:cNvSpPr txBox="1"/>
          <p:nvPr/>
        </p:nvSpPr>
        <p:spPr>
          <a:xfrm>
            <a:off x="640080" y="3291840"/>
            <a:ext cx="2011680" cy="594360"/>
          </a:xfrm>
          <a:prstGeom prst="rect">
            <a:avLst/>
          </a:prstGeom>
          <a:noFill/>
          <a:ln/>
        </p:spPr>
        <p:txBody>
          <a:bodyPr wrap="square" lIns="0" tIns="0" rIns="0" bIns="0" rtlCol="0" anchor="ctr"/>
          <a:lstStyle/>
          <a:p>
            <a:pPr marL="0" indent="0">
              <a:buNone/>
            </a:pPr>
            <a:r>
              <a:rPr lang="en-US" sz="2600" b="1" dirty="0">
                <a:solidFill>
                  <a:srgbClr val="028090"/>
                </a:solidFill>
                <a:latin typeface="Cambria" pitchFamily="34" charset="0"/>
                <a:ea typeface="Cambria" pitchFamily="34" charset="-122"/>
                <a:cs typeface="Cambria" pitchFamily="34" charset="-120"/>
              </a:rPr>
              <a:t>2,400</a:t>
            </a:r>
            <a:endParaRPr lang="en-US" sz="2600" dirty="0"/>
          </a:p>
        </p:txBody>
      </p:sp>
      <p:sp>
        <p:nvSpPr>
          <p:cNvPr id="9" name="Text 7"/>
          <p:cNvSpPr txBox="1"/>
          <p:nvPr/>
        </p:nvSpPr>
        <p:spPr>
          <a:xfrm>
            <a:off x="640080" y="3886200"/>
            <a:ext cx="5120640" cy="502920"/>
          </a:xfrm>
          <a:prstGeom prst="rect">
            <a:avLst/>
          </a:prstGeom>
          <a:noFill/>
          <a:ln/>
        </p:spPr>
        <p:txBody>
          <a:bodyPr wrap="square" lIns="0" tIns="0" rIns="0" bIns="0" rtlCol="0" anchor="ctr"/>
          <a:lstStyle/>
          <a:p>
            <a:pPr marL="0" indent="0">
              <a:lnSpc>
                <a:spcPct val="110000"/>
              </a:lnSpc>
              <a:buNone/>
            </a:pPr>
            <a:r>
              <a:rPr lang="en-US" sz="1100" dirty="0">
                <a:solidFill>
                  <a:srgbClr val="2B2B2B"/>
                </a:solidFill>
                <a:latin typeface="Calibri" pitchFamily="34" charset="0"/>
                <a:ea typeface="Calibri" pitchFamily="34" charset="-122"/>
                <a:cs typeface="Calibri" pitchFamily="34" charset="-120"/>
              </a:rPr>
              <a:t>patient cases, 4 abdominal pathologies — the MIMIC-IV-Ext-CDM task subset used for the baseline</a:t>
            </a:r>
            <a:endParaRPr lang="en-US" sz="1100" dirty="0"/>
          </a:p>
        </p:txBody>
      </p:sp>
      <p:sp>
        <p:nvSpPr>
          <p:cNvPr id="10" name="Text 8"/>
          <p:cNvSpPr txBox="1"/>
          <p:nvPr/>
        </p:nvSpPr>
        <p:spPr>
          <a:xfrm>
            <a:off x="457200" y="4617720"/>
            <a:ext cx="5486400" cy="320040"/>
          </a:xfrm>
          <a:prstGeom prst="rect">
            <a:avLst/>
          </a:prstGeom>
          <a:noFill/>
          <a:ln/>
        </p:spPr>
        <p:txBody>
          <a:bodyPr wrap="square" lIns="0" tIns="0" rIns="0" bIns="0" rtlCol="0" anchor="ctr"/>
          <a:lstStyle/>
          <a:p>
            <a:pPr marL="0" indent="0">
              <a:buNone/>
            </a:pPr>
            <a:r>
              <a:rPr lang="en-US" sz="1400" b="1" dirty="0">
                <a:solidFill>
                  <a:srgbClr val="1E2761"/>
                </a:solidFill>
                <a:latin typeface="Cambria" pitchFamily="34" charset="0"/>
                <a:ea typeface="Cambria" pitchFamily="34" charset="-122"/>
                <a:cs typeface="Cambria" pitchFamily="34" charset="-120"/>
              </a:rPr>
              <a:t>License / Terms of Use</a:t>
            </a:r>
            <a:endParaRPr lang="en-US" sz="1400" dirty="0"/>
          </a:p>
        </p:txBody>
      </p:sp>
      <p:sp>
        <p:nvSpPr>
          <p:cNvPr id="11" name="Text 9"/>
          <p:cNvSpPr txBox="1"/>
          <p:nvPr/>
        </p:nvSpPr>
        <p:spPr>
          <a:xfrm>
            <a:off x="457200" y="4956048"/>
            <a:ext cx="5486400" cy="777240"/>
          </a:xfrm>
          <a:prstGeom prst="rect">
            <a:avLst/>
          </a:prstGeom>
          <a:noFill/>
          <a:ln/>
        </p:spPr>
        <p:txBody>
          <a:bodyPr wrap="square" lIns="0" tIns="0" rIns="0" bIns="0" rtlCol="0" anchor="ctr"/>
          <a:lstStyle/>
          <a:p>
            <a:pPr marL="0" indent="0">
              <a:lnSpc>
                <a:spcPct val="115000"/>
              </a:lnSpc>
              <a:buNone/>
            </a:pPr>
            <a:r>
              <a:rPr lang="en-US" sz="1150" dirty="0">
                <a:solidFill>
                  <a:srgbClr val="2B2B2B"/>
                </a:solidFill>
                <a:latin typeface="Calibri" pitchFamily="34" charset="0"/>
                <a:ea typeface="Calibri" pitchFamily="34" charset="-122"/>
                <a:cs typeface="Calibri" pitchFamily="34" charset="-120"/>
              </a:rPr>
              <a:t>PhysioNet Credentialed Health Data License 1.5.0 — a signed Data Use Agreement is required per dataset (same credentialing process as the baseline slide).</a:t>
            </a:r>
            <a:endParaRPr lang="en-US" sz="1150" dirty="0"/>
          </a:p>
        </p:txBody>
      </p:sp>
      <p:sp>
        <p:nvSpPr>
          <p:cNvPr id="12" name="Text 10"/>
          <p:cNvSpPr txBox="1"/>
          <p:nvPr/>
        </p:nvSpPr>
        <p:spPr>
          <a:xfrm>
            <a:off x="6400800" y="1371600"/>
            <a:ext cx="5303520" cy="365760"/>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Expected Outcome</a:t>
            </a:r>
            <a:endParaRPr lang="en-US" sz="1600" dirty="0"/>
          </a:p>
        </p:txBody>
      </p:sp>
      <p:sp>
        <p:nvSpPr>
          <p:cNvPr id="13" name="Shape 11"/>
          <p:cNvSpPr/>
          <p:nvPr/>
        </p:nvSpPr>
        <p:spPr>
          <a:xfrm>
            <a:off x="6400800" y="1828800"/>
            <a:ext cx="5303520" cy="2331720"/>
          </a:xfrm>
          <a:prstGeom prst="roundRect">
            <a:avLst>
              <a:gd name="adj" fmla="val 3137"/>
            </a:avLst>
          </a:prstGeom>
          <a:solidFill>
            <a:srgbClr val="1E2761"/>
          </a:solidFill>
          <a:ln/>
        </p:spPr>
      </p:sp>
      <p:sp>
        <p:nvSpPr>
          <p:cNvPr id="14" name="Text 12"/>
          <p:cNvSpPr txBox="1"/>
          <p:nvPr/>
        </p:nvSpPr>
        <p:spPr>
          <a:xfrm>
            <a:off x="6675120" y="1965960"/>
            <a:ext cx="4754880" cy="320040"/>
          </a:xfrm>
          <a:prstGeom prst="rect">
            <a:avLst/>
          </a:prstGeom>
          <a:noFill/>
          <a:ln/>
        </p:spPr>
        <p:txBody>
          <a:bodyPr wrap="square" lIns="0" tIns="0" rIns="0" bIns="0" rtlCol="0" anchor="ctr"/>
          <a:lstStyle/>
          <a:p>
            <a:pPr marL="0" indent="0">
              <a:buNone/>
            </a:pPr>
            <a:r>
              <a:rPr lang="en-US" sz="1200" b="1" dirty="0">
                <a:solidFill>
                  <a:srgbClr val="CADCFC"/>
                </a:solidFill>
                <a:latin typeface="Calibri" pitchFamily="34" charset="0"/>
                <a:ea typeface="Calibri" pitchFamily="34" charset="-122"/>
                <a:cs typeface="Calibri" pitchFamily="34" charset="-120"/>
              </a:rPr>
              <a:t>By end of DATA 298A</a:t>
            </a:r>
            <a:endParaRPr lang="en-US" sz="1200" dirty="0"/>
          </a:p>
        </p:txBody>
      </p:sp>
      <p:sp>
        <p:nvSpPr>
          <p:cNvPr id="15" name="Text 13"/>
          <p:cNvSpPr txBox="1"/>
          <p:nvPr/>
        </p:nvSpPr>
        <p:spPr>
          <a:xfrm>
            <a:off x="6675120" y="2331720"/>
            <a:ext cx="4846320" cy="1737360"/>
          </a:xfrm>
          <a:prstGeom prst="rect">
            <a:avLst/>
          </a:prstGeom>
          <a:noFill/>
          <a:ln/>
        </p:spPr>
        <p:txBody>
          <a:bodyPr wrap="square" lIns="0" tIns="0" rIns="0" bIns="0" rtlCol="0" anchor="ctr"/>
          <a:lstStyle/>
          <a:p>
            <a:pPr marL="0" indent="0">
              <a:lnSpc>
                <a:spcPct val="130000"/>
              </a:lnSpc>
              <a:buNone/>
            </a:pPr>
            <a:r>
              <a:rPr lang="en-US" sz="1300" dirty="0">
                <a:solidFill>
                  <a:srgbClr val="FFFFFF"/>
                </a:solidFill>
                <a:latin typeface="Calibri" pitchFamily="34" charset="0"/>
                <a:ea typeface="Calibri" pitchFamily="34" charset="-122"/>
                <a:cs typeface="Calibri" pitchFamily="34" charset="-120"/>
              </a:rPr>
              <a:t>•  Verifier and rule set</a:t>
            </a:r>
            <a:endParaRPr lang="en-US" sz="1300" dirty="0"/>
          </a:p>
          <a:p>
            <a:pPr marL="0" indent="0">
              <a:lnSpc>
                <a:spcPct val="130000"/>
              </a:lnSpc>
              <a:buNone/>
            </a:pPr>
            <a:r>
              <a:rPr lang="en-US" sz="1300" dirty="0">
                <a:solidFill>
                  <a:srgbClr val="FFFFFF"/>
                </a:solidFill>
                <a:latin typeface="Calibri" pitchFamily="34" charset="0"/>
                <a:ea typeface="Calibri" pitchFamily="34" charset="-122"/>
                <a:cs typeface="Calibri" pitchFamily="34" charset="-120"/>
              </a:rPr>
              <a:t>•  Evaluation harness and benchmark</a:t>
            </a:r>
            <a:endParaRPr lang="en-US" sz="1300" dirty="0"/>
          </a:p>
          <a:p>
            <a:pPr marL="0" indent="0">
              <a:lnSpc>
                <a:spcPct val="130000"/>
              </a:lnSpc>
              <a:buNone/>
            </a:pPr>
            <a:r>
              <a:rPr lang="en-US" sz="1300" dirty="0">
                <a:solidFill>
                  <a:srgbClr val="FFFFFF"/>
                </a:solidFill>
                <a:latin typeface="Calibri" pitchFamily="34" charset="0"/>
                <a:ea typeface="Calibri" pitchFamily="34" charset="-122"/>
                <a:cs typeface="Calibri" pitchFamily="34" charset="-120"/>
              </a:rPr>
              <a:t>•  Model A implemented and evaluated</a:t>
            </a:r>
            <a:endParaRPr lang="en-US" sz="1300" dirty="0"/>
          </a:p>
          <a:p>
            <a:pPr marL="0" indent="0">
              <a:lnSpc>
                <a:spcPct val="130000"/>
              </a:lnSpc>
              <a:buNone/>
            </a:pPr>
            <a:r>
              <a:rPr lang="en-US" sz="1300" dirty="0">
                <a:solidFill>
                  <a:srgbClr val="FFFFFF"/>
                </a:solidFill>
                <a:latin typeface="Calibri" pitchFamily="34" charset="0"/>
                <a:ea typeface="Calibri" pitchFamily="34" charset="-122"/>
                <a:cs typeface="Calibri" pitchFamily="34" charset="-120"/>
              </a:rPr>
              <a:t>•  Reproduced Hager et al. baseline</a:t>
            </a:r>
            <a:endParaRPr lang="en-US" sz="1300" dirty="0"/>
          </a:p>
        </p:txBody>
      </p:sp>
      <p:sp>
        <p:nvSpPr>
          <p:cNvPr id="16" name="Shape 14"/>
          <p:cNvSpPr/>
          <p:nvPr/>
        </p:nvSpPr>
        <p:spPr>
          <a:xfrm>
            <a:off x="6400800" y="4297680"/>
            <a:ext cx="5303520" cy="1371600"/>
          </a:xfrm>
          <a:prstGeom prst="roundRect">
            <a:avLst>
              <a:gd name="adj" fmla="val 5333"/>
            </a:avLst>
          </a:prstGeom>
          <a:solidFill>
            <a:srgbClr val="EAF6F5"/>
          </a:solidFill>
          <a:ln w="19050">
            <a:solidFill>
              <a:srgbClr val="028090"/>
            </a:solidFill>
            <a:prstDash val="solid"/>
          </a:ln>
        </p:spPr>
      </p:sp>
      <p:sp>
        <p:nvSpPr>
          <p:cNvPr id="17" name="Text 15"/>
          <p:cNvSpPr txBox="1"/>
          <p:nvPr/>
        </p:nvSpPr>
        <p:spPr>
          <a:xfrm>
            <a:off x="6675120" y="4434840"/>
            <a:ext cx="4754880" cy="320040"/>
          </a:xfrm>
          <a:prstGeom prst="rect">
            <a:avLst/>
          </a:prstGeom>
          <a:noFill/>
          <a:ln/>
        </p:spPr>
        <p:txBody>
          <a:bodyPr wrap="square" lIns="0" tIns="0" rIns="0" bIns="0" rtlCol="0" anchor="ctr"/>
          <a:lstStyle/>
          <a:p>
            <a:pPr marL="0" indent="0">
              <a:buNone/>
            </a:pPr>
            <a:r>
              <a:rPr lang="en-US" sz="1200" b="1" dirty="0">
                <a:solidFill>
                  <a:srgbClr val="028090"/>
                </a:solidFill>
                <a:latin typeface="Calibri" pitchFamily="34" charset="0"/>
                <a:ea typeface="Calibri" pitchFamily="34" charset="-122"/>
                <a:cs typeface="Calibri" pitchFamily="34" charset="-120"/>
              </a:rPr>
              <a:t>Waiting for DATA 298B</a:t>
            </a:r>
            <a:endParaRPr lang="en-US" sz="1200" dirty="0"/>
          </a:p>
        </p:txBody>
      </p:sp>
      <p:sp>
        <p:nvSpPr>
          <p:cNvPr id="18" name="Text 16"/>
          <p:cNvSpPr txBox="1"/>
          <p:nvPr/>
        </p:nvSpPr>
        <p:spPr>
          <a:xfrm>
            <a:off x="6675120" y="4773168"/>
            <a:ext cx="4846320" cy="777240"/>
          </a:xfrm>
          <a:prstGeom prst="rect">
            <a:avLst/>
          </a:prstGeom>
          <a:noFill/>
          <a:ln/>
        </p:spPr>
        <p:txBody>
          <a:bodyPr wrap="square" lIns="0" tIns="0" rIns="0" bIns="0" rtlCol="0" anchor="ctr"/>
          <a:lstStyle/>
          <a:p>
            <a:pPr marL="0" indent="0">
              <a:lnSpc>
                <a:spcPct val="120000"/>
              </a:lnSpc>
              <a:buNone/>
            </a:pPr>
            <a:r>
              <a:rPr lang="en-US" sz="1300" dirty="0">
                <a:solidFill>
                  <a:srgbClr val="2B2B2B"/>
                </a:solidFill>
                <a:latin typeface="Calibri" pitchFamily="34" charset="0"/>
                <a:ea typeface="Calibri" pitchFamily="34" charset="-122"/>
                <a:cs typeface="Calibri" pitchFamily="34" charset="-120"/>
              </a:rPr>
              <a:t>Models B, C, D and the full four-model comparison.</a:t>
            </a:r>
            <a:endParaRPr lang="en-US" sz="1300" dirty="0"/>
          </a:p>
        </p:txBody>
      </p:sp>
      <p:sp>
        <p:nvSpPr>
          <p:cNvPr id="19" name="Text 17"/>
          <p:cNvSpPr txBox="1"/>
          <p:nvPr/>
        </p:nvSpPr>
        <p:spPr>
          <a:xfrm>
            <a:off x="11430000" y="6537960"/>
            <a:ext cx="640080" cy="274320"/>
          </a:xfrm>
          <a:prstGeom prst="rect">
            <a:avLst/>
          </a:prstGeom>
          <a:noFill/>
          <a:ln/>
        </p:spPr>
        <p:txBody>
          <a:bodyPr wrap="square" lIns="0" tIns="0" rIns="0" bIns="0" rtlCol="0" anchor="ctr"/>
          <a:lstStyle/>
          <a:p>
            <a:pPr marL="0" indent="0" algn="r">
              <a:buNone/>
            </a:pPr>
            <a:r>
              <a:rPr lang="en-US" sz="1000" dirty="0">
                <a:solidFill>
                  <a:srgbClr val="999999"/>
                </a:solidFill>
                <a:latin typeface="Calibri" pitchFamily="34" charset="0"/>
                <a:ea typeface="Calibri" pitchFamily="34" charset="-122"/>
                <a:cs typeface="Calibri" pitchFamily="34" charset="-120"/>
              </a:rPr>
              <a:t>7 / 8</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Project Setup, Risks and Compute</a:t>
            </a:r>
            <a:endParaRPr lang="en-US" sz="3000" dirty="0"/>
          </a:p>
        </p:txBody>
      </p:sp>
      <p:sp>
        <p:nvSpPr>
          <p:cNvPr id="3" name="Shape 1"/>
          <p:cNvSpPr/>
          <p:nvPr/>
        </p:nvSpPr>
        <p:spPr>
          <a:xfrm>
            <a:off x="457200" y="1371600"/>
            <a:ext cx="5486400" cy="868680"/>
          </a:xfrm>
          <a:prstGeom prst="roundRect">
            <a:avLst>
              <a:gd name="adj" fmla="val 7368"/>
            </a:avLst>
          </a:prstGeom>
          <a:solidFill>
            <a:srgbClr val="F2F2F2"/>
          </a:solidFill>
          <a:ln/>
        </p:spPr>
      </p:sp>
      <p:sp>
        <p:nvSpPr>
          <p:cNvPr id="4" name="Text 2"/>
          <p:cNvSpPr txBox="1"/>
          <p:nvPr/>
        </p:nvSpPr>
        <p:spPr>
          <a:xfrm>
            <a:off x="685800" y="1371600"/>
            <a:ext cx="5029200" cy="868680"/>
          </a:xfrm>
          <a:prstGeom prst="rect">
            <a:avLst/>
          </a:prstGeom>
          <a:noFill/>
          <a:ln/>
        </p:spPr>
        <p:txBody>
          <a:bodyPr wrap="square" lIns="0" tIns="0" rIns="0" bIns="0" rtlCol="0" anchor="ctr"/>
          <a:lstStyle/>
          <a:p>
            <a:pPr marL="0" indent="0">
              <a:lnSpc>
                <a:spcPct val="115000"/>
              </a:lnSpc>
              <a:buNone/>
            </a:pPr>
            <a:r>
              <a:rPr lang="en-US" sz="1150" b="1" dirty="0">
                <a:solidFill>
                  <a:srgbClr val="1E2761"/>
                </a:solidFill>
                <a:latin typeface="Calibri" pitchFamily="34" charset="0"/>
                <a:ea typeface="Calibri" pitchFamily="34" charset="-122"/>
                <a:cs typeface="Calibri" pitchFamily="34" charset="-120"/>
              </a:rPr>
              <a:t>Repository:  </a:t>
            </a:r>
            <a:r>
              <a:rPr lang="en-US" sz="1150" dirty="0">
                <a:solidFill>
                  <a:srgbClr val="2B2B2B"/>
                </a:solidFill>
                <a:latin typeface="Calibri" pitchFamily="34" charset="0"/>
                <a:ea typeface="Calibri" pitchFamily="34" charset="-122"/>
                <a:cs typeface="Calibri" pitchFamily="34" charset="-120"/>
              </a:rPr>
              <a:t>created</a:t>
            </a:r>
            <a:endParaRPr lang="en-US" sz="1150" dirty="0"/>
          </a:p>
        </p:txBody>
      </p:sp>
      <p:sp>
        <p:nvSpPr>
          <p:cNvPr id="5" name="Shape 3"/>
          <p:cNvSpPr/>
          <p:nvPr/>
        </p:nvSpPr>
        <p:spPr>
          <a:xfrm>
            <a:off x="6126480" y="1371600"/>
            <a:ext cx="5577840" cy="868680"/>
          </a:xfrm>
          <a:prstGeom prst="roundRect">
            <a:avLst>
              <a:gd name="adj" fmla="val 7368"/>
            </a:avLst>
          </a:prstGeom>
          <a:solidFill>
            <a:srgbClr val="F2F2F2"/>
          </a:solidFill>
          <a:ln/>
        </p:spPr>
      </p:sp>
      <p:sp>
        <p:nvSpPr>
          <p:cNvPr id="6" name="Text 4"/>
          <p:cNvSpPr txBox="1"/>
          <p:nvPr/>
        </p:nvSpPr>
        <p:spPr>
          <a:xfrm>
            <a:off x="6355080" y="1371600"/>
            <a:ext cx="5120640" cy="868680"/>
          </a:xfrm>
          <a:prstGeom prst="rect">
            <a:avLst/>
          </a:prstGeom>
          <a:noFill/>
          <a:ln/>
        </p:spPr>
        <p:txBody>
          <a:bodyPr wrap="square" lIns="0" tIns="0" rIns="0" bIns="0" rtlCol="0" anchor="ctr"/>
          <a:lstStyle/>
          <a:p>
            <a:pPr marL="0" indent="0">
              <a:lnSpc>
                <a:spcPct val="115000"/>
              </a:lnSpc>
              <a:buNone/>
            </a:pPr>
            <a:r>
              <a:rPr lang="en-US" sz="1150" b="1" dirty="0">
                <a:solidFill>
                  <a:srgbClr val="1E2761"/>
                </a:solidFill>
                <a:latin typeface="Calibri" pitchFamily="34" charset="0"/>
                <a:ea typeface="Calibri" pitchFamily="34" charset="-122"/>
                <a:cs typeface="Calibri" pitchFamily="34" charset="-120"/>
              </a:rPr>
              <a:t>Linear board:  </a:t>
            </a:r>
            <a:r>
              <a:rPr lang="en-US" sz="1150" dirty="0">
                <a:solidFill>
                  <a:srgbClr val="2B2B2B"/>
                </a:solidFill>
                <a:latin typeface="Calibri" pitchFamily="34" charset="0"/>
                <a:ea typeface="Calibri" pitchFamily="34" charset="-122"/>
                <a:cs typeface="Calibri" pitchFamily="34" charset="-120"/>
              </a:rPr>
              <a:t>milestones defined; cycles and issue assignment in progress, not yet populated.</a:t>
            </a:r>
            <a:endParaRPr lang="en-US" sz="1150" dirty="0"/>
          </a:p>
        </p:txBody>
      </p:sp>
      <p:sp>
        <p:nvSpPr>
          <p:cNvPr id="7" name="Text 5"/>
          <p:cNvSpPr txBox="1"/>
          <p:nvPr/>
        </p:nvSpPr>
        <p:spPr>
          <a:xfrm>
            <a:off x="457200" y="2423160"/>
            <a:ext cx="5486400" cy="320040"/>
          </a:xfrm>
          <a:prstGeom prst="rect">
            <a:avLst/>
          </a:prstGeom>
          <a:noFill/>
          <a:ln/>
        </p:spPr>
        <p:txBody>
          <a:bodyPr wrap="square" lIns="0" tIns="0" rIns="0" bIns="0"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Three Largest Risks</a:t>
            </a:r>
            <a:endParaRPr lang="en-US" sz="1500" dirty="0"/>
          </a:p>
        </p:txBody>
      </p:sp>
      <p:sp>
        <p:nvSpPr>
          <p:cNvPr id="8" name="Shape 6"/>
          <p:cNvSpPr/>
          <p:nvPr/>
        </p:nvSpPr>
        <p:spPr>
          <a:xfrm>
            <a:off x="457200" y="2788920"/>
            <a:ext cx="11247120" cy="868680"/>
          </a:xfrm>
          <a:prstGeom prst="roundRect">
            <a:avLst>
              <a:gd name="adj" fmla="val 6316"/>
            </a:avLst>
          </a:prstGeom>
          <a:solidFill>
            <a:srgbClr val="FFFFFF"/>
          </a:solidFill>
          <a:ln w="12700">
            <a:solidFill>
              <a:srgbClr val="DDDDDD"/>
            </a:solidFill>
            <a:prstDash val="solid"/>
          </a:ln>
        </p:spPr>
      </p:sp>
      <p:sp>
        <p:nvSpPr>
          <p:cNvPr id="9" name="Shape 7"/>
          <p:cNvSpPr/>
          <p:nvPr/>
        </p:nvSpPr>
        <p:spPr>
          <a:xfrm>
            <a:off x="457200" y="2788920"/>
            <a:ext cx="5212080" cy="868680"/>
          </a:xfrm>
          <a:prstGeom prst="roundRect">
            <a:avLst>
              <a:gd name="adj" fmla="val 6316"/>
            </a:avLst>
          </a:prstGeom>
          <a:solidFill>
            <a:srgbClr val="FFE8E4"/>
          </a:solidFill>
          <a:ln/>
        </p:spPr>
      </p:sp>
      <p:sp>
        <p:nvSpPr>
          <p:cNvPr id="10" name="Text 8"/>
          <p:cNvSpPr txBox="1"/>
          <p:nvPr/>
        </p:nvSpPr>
        <p:spPr>
          <a:xfrm>
            <a:off x="640080" y="2788920"/>
            <a:ext cx="4846320" cy="868680"/>
          </a:xfrm>
          <a:prstGeom prst="rect">
            <a:avLst/>
          </a:prstGeom>
          <a:noFill/>
          <a:ln/>
        </p:spPr>
        <p:txBody>
          <a:bodyPr wrap="square" lIns="0" tIns="0" rIns="0" bIns="0" rtlCol="0" anchor="ctr"/>
          <a:lstStyle/>
          <a:p>
            <a:pPr marL="0" indent="0">
              <a:lnSpc>
                <a:spcPct val="110000"/>
              </a:lnSpc>
              <a:buNone/>
            </a:pPr>
            <a:r>
              <a:rPr lang="en-US" sz="1150" b="1" dirty="0">
                <a:solidFill>
                  <a:srgbClr val="B85042"/>
                </a:solidFill>
                <a:latin typeface="Calibri" pitchFamily="34" charset="0"/>
                <a:ea typeface="Calibri" pitchFamily="34" charset="-122"/>
                <a:cs typeface="Calibri" pitchFamily="34" charset="-120"/>
              </a:rPr>
              <a:t>PhysioNet credentialing delay blocks all dataset work.</a:t>
            </a:r>
            <a:endParaRPr lang="en-US" sz="1150" dirty="0"/>
          </a:p>
        </p:txBody>
      </p:sp>
      <p:sp>
        <p:nvSpPr>
          <p:cNvPr id="11" name="Text 9"/>
          <p:cNvSpPr txBox="1"/>
          <p:nvPr/>
        </p:nvSpPr>
        <p:spPr>
          <a:xfrm>
            <a:off x="5852160" y="2788920"/>
            <a:ext cx="5669280" cy="868680"/>
          </a:xfrm>
          <a:prstGeom prst="rect">
            <a:avLst/>
          </a:prstGeom>
          <a:noFill/>
          <a:ln/>
        </p:spPr>
        <p:txBody>
          <a:bodyPr wrap="square" lIns="0" tIns="0" rIns="0" bIns="0" rtlCol="0" anchor="ctr"/>
          <a:lstStyle/>
          <a:p>
            <a:pPr marL="0" indent="0">
              <a:lnSpc>
                <a:spcPct val="110000"/>
              </a:lnSpc>
              <a:buNone/>
            </a:pPr>
            <a:r>
              <a:rPr lang="en-US" sz="1150" dirty="0">
                <a:solidFill>
                  <a:srgbClr val="2B2B2B"/>
                </a:solidFill>
                <a:latin typeface="Calibri" pitchFamily="34" charset="0"/>
                <a:ea typeface="Calibri" pitchFamily="34" charset="-122"/>
                <a:cs typeface="Calibri" pitchFamily="34" charset="-120"/>
              </a:rPr>
              <a:t>Start CITI training and DUA submission immediately, in parallel; double-check completeness before submitting.</a:t>
            </a:r>
            <a:endParaRPr lang="en-US" sz="1150" dirty="0"/>
          </a:p>
        </p:txBody>
      </p:sp>
      <p:sp>
        <p:nvSpPr>
          <p:cNvPr id="12" name="Shape 10"/>
          <p:cNvSpPr/>
          <p:nvPr/>
        </p:nvSpPr>
        <p:spPr>
          <a:xfrm>
            <a:off x="457200" y="3794760"/>
            <a:ext cx="11247120" cy="868680"/>
          </a:xfrm>
          <a:prstGeom prst="roundRect">
            <a:avLst>
              <a:gd name="adj" fmla="val 6316"/>
            </a:avLst>
          </a:prstGeom>
          <a:solidFill>
            <a:srgbClr val="FFFFFF"/>
          </a:solidFill>
          <a:ln w="12700">
            <a:solidFill>
              <a:srgbClr val="DDDDDD"/>
            </a:solidFill>
            <a:prstDash val="solid"/>
          </a:ln>
        </p:spPr>
      </p:sp>
      <p:sp>
        <p:nvSpPr>
          <p:cNvPr id="13" name="Shape 11"/>
          <p:cNvSpPr/>
          <p:nvPr/>
        </p:nvSpPr>
        <p:spPr>
          <a:xfrm>
            <a:off x="457200" y="3794760"/>
            <a:ext cx="5212080" cy="868680"/>
          </a:xfrm>
          <a:prstGeom prst="roundRect">
            <a:avLst>
              <a:gd name="adj" fmla="val 6316"/>
            </a:avLst>
          </a:prstGeom>
          <a:solidFill>
            <a:srgbClr val="FFE8E4"/>
          </a:solidFill>
          <a:ln/>
        </p:spPr>
      </p:sp>
      <p:sp>
        <p:nvSpPr>
          <p:cNvPr id="14" name="Text 12"/>
          <p:cNvSpPr txBox="1"/>
          <p:nvPr/>
        </p:nvSpPr>
        <p:spPr>
          <a:xfrm>
            <a:off x="640080" y="3794760"/>
            <a:ext cx="4846320" cy="868680"/>
          </a:xfrm>
          <a:prstGeom prst="rect">
            <a:avLst/>
          </a:prstGeom>
          <a:noFill/>
          <a:ln/>
        </p:spPr>
        <p:txBody>
          <a:bodyPr wrap="square" lIns="0" tIns="0" rIns="0" bIns="0" rtlCol="0" anchor="ctr"/>
          <a:lstStyle/>
          <a:p>
            <a:pPr marL="0" indent="0">
              <a:lnSpc>
                <a:spcPct val="110000"/>
              </a:lnSpc>
              <a:buNone/>
            </a:pPr>
            <a:r>
              <a:rPr lang="en-US" sz="1150" b="1" dirty="0">
                <a:solidFill>
                  <a:srgbClr val="B85042"/>
                </a:solidFill>
                <a:latin typeface="Calibri" pitchFamily="34" charset="0"/>
                <a:ea typeface="Calibri" pitchFamily="34" charset="-122"/>
                <a:cs typeface="Calibri" pitchFamily="34" charset="-120"/>
              </a:rPr>
              <a:t>MIMIC-IV was not cleaned for research use.</a:t>
            </a:r>
            <a:endParaRPr lang="en-US" sz="1150" dirty="0"/>
          </a:p>
        </p:txBody>
      </p:sp>
      <p:sp>
        <p:nvSpPr>
          <p:cNvPr id="15" name="Text 13"/>
          <p:cNvSpPr txBox="1"/>
          <p:nvPr/>
        </p:nvSpPr>
        <p:spPr>
          <a:xfrm>
            <a:off x="5852160" y="3794760"/>
            <a:ext cx="5669280" cy="868680"/>
          </a:xfrm>
          <a:prstGeom prst="rect">
            <a:avLst/>
          </a:prstGeom>
          <a:noFill/>
          <a:ln/>
        </p:spPr>
        <p:txBody>
          <a:bodyPr wrap="square" lIns="0" tIns="0" rIns="0" bIns="0" rtlCol="0" anchor="ctr"/>
          <a:lstStyle/>
          <a:p>
            <a:pPr marL="0" indent="0">
              <a:lnSpc>
                <a:spcPct val="110000"/>
              </a:lnSpc>
              <a:buNone/>
            </a:pPr>
            <a:r>
              <a:rPr lang="en-US" sz="1150" dirty="0">
                <a:solidFill>
                  <a:srgbClr val="2B2B2B"/>
                </a:solidFill>
                <a:latin typeface="Calibri" pitchFamily="34" charset="0"/>
                <a:ea typeface="Calibri" pitchFamily="34" charset="-122"/>
                <a:cs typeface="Calibri" pitchFamily="34" charset="-120"/>
              </a:rPr>
              <a:t>Budget dedicated preprocessing time; reuse Hager et al.'s public extraction code instead of building from scratch.</a:t>
            </a:r>
            <a:endParaRPr lang="en-US" sz="1150" dirty="0"/>
          </a:p>
        </p:txBody>
      </p:sp>
      <p:sp>
        <p:nvSpPr>
          <p:cNvPr id="16" name="Shape 14"/>
          <p:cNvSpPr/>
          <p:nvPr/>
        </p:nvSpPr>
        <p:spPr>
          <a:xfrm>
            <a:off x="457200" y="4800600"/>
            <a:ext cx="11247120" cy="868680"/>
          </a:xfrm>
          <a:prstGeom prst="roundRect">
            <a:avLst>
              <a:gd name="adj" fmla="val 6316"/>
            </a:avLst>
          </a:prstGeom>
          <a:solidFill>
            <a:srgbClr val="FFFFFF"/>
          </a:solidFill>
          <a:ln w="12700">
            <a:solidFill>
              <a:srgbClr val="DDDDDD"/>
            </a:solidFill>
            <a:prstDash val="solid"/>
          </a:ln>
        </p:spPr>
      </p:sp>
      <p:sp>
        <p:nvSpPr>
          <p:cNvPr id="17" name="Shape 15"/>
          <p:cNvSpPr/>
          <p:nvPr/>
        </p:nvSpPr>
        <p:spPr>
          <a:xfrm>
            <a:off x="457200" y="4800600"/>
            <a:ext cx="5212080" cy="868680"/>
          </a:xfrm>
          <a:prstGeom prst="roundRect">
            <a:avLst>
              <a:gd name="adj" fmla="val 6316"/>
            </a:avLst>
          </a:prstGeom>
          <a:solidFill>
            <a:srgbClr val="FFE8E4"/>
          </a:solidFill>
          <a:ln/>
        </p:spPr>
      </p:sp>
      <p:sp>
        <p:nvSpPr>
          <p:cNvPr id="18" name="Text 16"/>
          <p:cNvSpPr txBox="1"/>
          <p:nvPr/>
        </p:nvSpPr>
        <p:spPr>
          <a:xfrm>
            <a:off x="640080" y="4800600"/>
            <a:ext cx="4846320" cy="868680"/>
          </a:xfrm>
          <a:prstGeom prst="rect">
            <a:avLst/>
          </a:prstGeom>
          <a:noFill/>
          <a:ln/>
        </p:spPr>
        <p:txBody>
          <a:bodyPr wrap="square" lIns="0" tIns="0" rIns="0" bIns="0" rtlCol="0" anchor="ctr"/>
          <a:lstStyle/>
          <a:p>
            <a:pPr marL="0" indent="0">
              <a:lnSpc>
                <a:spcPct val="110000"/>
              </a:lnSpc>
              <a:buNone/>
            </a:pPr>
            <a:r>
              <a:rPr lang="en-US" sz="1150" b="1" dirty="0">
                <a:solidFill>
                  <a:srgbClr val="B85042"/>
                </a:solidFill>
                <a:latin typeface="Calibri" pitchFamily="34" charset="0"/>
                <a:ea typeface="Calibri" pitchFamily="34" charset="-122"/>
                <a:cs typeface="Calibri" pitchFamily="34" charset="-120"/>
              </a:rPr>
              <a:t>Z3 solver cost may not scale to the full rule set.</a:t>
            </a:r>
            <a:endParaRPr lang="en-US" sz="1150" dirty="0"/>
          </a:p>
        </p:txBody>
      </p:sp>
      <p:sp>
        <p:nvSpPr>
          <p:cNvPr id="19" name="Text 17"/>
          <p:cNvSpPr txBox="1"/>
          <p:nvPr/>
        </p:nvSpPr>
        <p:spPr>
          <a:xfrm>
            <a:off x="5852160" y="4800600"/>
            <a:ext cx="5669280" cy="868680"/>
          </a:xfrm>
          <a:prstGeom prst="rect">
            <a:avLst/>
          </a:prstGeom>
          <a:noFill/>
          <a:ln/>
        </p:spPr>
        <p:txBody>
          <a:bodyPr wrap="square" lIns="0" tIns="0" rIns="0" bIns="0" rtlCol="0" anchor="ctr"/>
          <a:lstStyle/>
          <a:p>
            <a:pPr marL="0" indent="0">
              <a:lnSpc>
                <a:spcPct val="110000"/>
              </a:lnSpc>
              <a:buNone/>
            </a:pPr>
            <a:r>
              <a:rPr lang="en-US" sz="1150" dirty="0">
                <a:solidFill>
                  <a:srgbClr val="2B2B2B"/>
                </a:solidFill>
                <a:latin typeface="Calibri" pitchFamily="34" charset="0"/>
                <a:ea typeface="Calibri" pitchFamily="34" charset="-122"/>
                <a:cs typeface="Calibri" pitchFamily="34" charset="-120"/>
              </a:rPr>
              <a:t>Start with a prioritized subset of high-severity rules; expand coverage incrementally.</a:t>
            </a:r>
            <a:endParaRPr lang="en-US" sz="1150" dirty="0"/>
          </a:p>
        </p:txBody>
      </p:sp>
      <p:sp>
        <p:nvSpPr>
          <p:cNvPr id="20" name="Shape 18"/>
          <p:cNvSpPr/>
          <p:nvPr/>
        </p:nvSpPr>
        <p:spPr>
          <a:xfrm>
            <a:off x="457200" y="5852160"/>
            <a:ext cx="11247120" cy="685800"/>
          </a:xfrm>
          <a:prstGeom prst="roundRect">
            <a:avLst>
              <a:gd name="adj" fmla="val 8000"/>
            </a:avLst>
          </a:prstGeom>
          <a:solidFill>
            <a:srgbClr val="1E2761"/>
          </a:solidFill>
          <a:ln/>
        </p:spPr>
      </p:sp>
      <p:sp>
        <p:nvSpPr>
          <p:cNvPr id="21" name="Text 19"/>
          <p:cNvSpPr txBox="1"/>
          <p:nvPr/>
        </p:nvSpPr>
        <p:spPr>
          <a:xfrm>
            <a:off x="685800" y="5852160"/>
            <a:ext cx="10789920" cy="685800"/>
          </a:xfrm>
          <a:prstGeom prst="rect">
            <a:avLst/>
          </a:prstGeom>
          <a:noFill/>
          <a:ln/>
        </p:spPr>
        <p:txBody>
          <a:bodyPr wrap="square" lIns="0" tIns="0" rIns="0" bIns="0" rtlCol="0" anchor="ctr"/>
          <a:lstStyle/>
          <a:p>
            <a:pPr marL="0" indent="0">
              <a:buNone/>
            </a:pPr>
            <a:r>
              <a:rPr lang="en-US" sz="1250" b="1" dirty="0">
                <a:solidFill>
                  <a:srgbClr val="CADCFC"/>
                </a:solidFill>
                <a:latin typeface="Calibri" pitchFamily="34" charset="0"/>
                <a:ea typeface="Calibri" pitchFamily="34" charset="-122"/>
                <a:cs typeface="Calibri" pitchFamily="34" charset="-120"/>
              </a:rPr>
              <a:t>Compute budget:  </a:t>
            </a:r>
            <a:r>
              <a:rPr lang="en-US" sz="1250" dirty="0">
                <a:solidFill>
                  <a:srgbClr val="FFFFFF"/>
                </a:solidFill>
                <a:latin typeface="Calibri" pitchFamily="34" charset="0"/>
                <a:ea typeface="Calibri" pitchFamily="34" charset="-122"/>
                <a:cs typeface="Calibri" pitchFamily="34" charset="-120"/>
              </a:rPr>
              <a:t>not finalized yet — an honest open item the team will confirm as Model A work begins.</a:t>
            </a:r>
            <a:endParaRPr lang="en-US" sz="1250" dirty="0"/>
          </a:p>
        </p:txBody>
      </p:sp>
      <p:sp>
        <p:nvSpPr>
          <p:cNvPr id="22" name="Text 20"/>
          <p:cNvSpPr txBox="1"/>
          <p:nvPr/>
        </p:nvSpPr>
        <p:spPr>
          <a:xfrm>
            <a:off x="11430000" y="6537960"/>
            <a:ext cx="640080" cy="274320"/>
          </a:xfrm>
          <a:prstGeom prst="rect">
            <a:avLst/>
          </a:prstGeom>
          <a:noFill/>
          <a:ln/>
        </p:spPr>
        <p:txBody>
          <a:bodyPr wrap="square" lIns="0" tIns="0" rIns="0" bIns="0" rtlCol="0" anchor="ctr"/>
          <a:lstStyle/>
          <a:p>
            <a:pPr marL="0" indent="0" algn="r">
              <a:buNone/>
            </a:pPr>
            <a:r>
              <a:rPr lang="en-US" sz="1000" dirty="0">
                <a:solidFill>
                  <a:srgbClr val="999999"/>
                </a:solidFill>
                <a:latin typeface="Calibri" pitchFamily="34" charset="0"/>
                <a:ea typeface="Calibri" pitchFamily="34" charset="-122"/>
                <a:cs typeface="Calibri" pitchFamily="34" charset="-120"/>
              </a:rPr>
              <a:t>8 / 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88</TotalTime>
  <Words>1373</Words>
  <Application>Microsoft Macintosh PowerPoint</Application>
  <PresentationFormat>Widescreen</PresentationFormat>
  <Paragraphs>125</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Spartan</cp:lastModifiedBy>
  <cp:revision>3</cp:revision>
  <dcterms:created xsi:type="dcterms:W3CDTF">2026-09-10T16:32:29Z</dcterms:created>
  <dcterms:modified xsi:type="dcterms:W3CDTF">2026-09-10T23:07:16Z</dcterms:modified>
</cp:coreProperties>
</file>