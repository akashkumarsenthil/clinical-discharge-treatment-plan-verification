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raming" id="{08f5f497-b697-92d8-57dd-11d03bb95d7e}">
          <p14:sldIdLst>
            <p14:sldId id="256"/>
            <p14:sldId id="257"/>
            <p14:sldId id="258"/>
          </p14:sldIdLst>
        </p14:section>
        <p14:section name="What exists" id="{76c174c6-94a4-a5f1-0893-2207bac4172f}">
          <p14:sldIdLst>
            <p14:sldId id="259"/>
            <p14:sldId id="260"/>
          </p14:sldIdLst>
        </p14:section>
        <p14:section name="Data, team, schedule" id="{30688cb7-9c5f-b17b-f1f1-751bda67a666}">
          <p14:sldIdLst>
            <p14:sldId id="261"/>
            <p14:sldId id="262"/>
            <p14:sldId id="263"/>
          </p14:sldIdLst>
        </p14:section>
        <p14:section name="Risks and status" id="{950ccf7b-0b7f-2ee9-7998-97c3bd331c0e}">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min. Introduce the team and the one-line topic: LLMs can write discharge plans that read well but are unsafe, and we are building a rule-based checker that runs before a clinician acts. Total talk is 17 minutes across 10 slides, then 3 minutes of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Goal: a checker that runs before a clinician reads the plan. The checker does not ask the same model whether its plan is fine; it tests the plan against rules the team writes. Success is measured on 100 held-out cases: plan validity at or above 0.85 and a constraint-violation escape rate at or below 0.05, meaning at most 5 in 100 unsafe plans slip through undetected. The 298A exit criterion is concrete: Model A, the verifier and the harness run end to end on all 100 test cases and report validity, escape rate, the failing rule ID and runtime per plan. The 54.9% is Hager et al.'s mean diagnostic accuracy for OASST 70B in the autonomous setting. It measures diagnosis, not rule validity, so we reproduce it as a separate baseline and never put the two numbers side by side. If asked about precision: with 100 test cases, an observed 5/100 has a 95% interval of roughly 2% to 11%, so we will report intervals and per-pathology results, not a single point estimate.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Walk the table row by row. A is built first because every other model needs a plan to verify, repair or compare against; it is the floor, so we measure it rather than set a target for it. B turns text into a formal specification; its target is translation fidelity on a hand-checked subset, because a wrong translation would otherwise show up as a false solver result. C adds the Z3 solver and a repair loop and carries the headline targets (0.85 validity, 0.05 escape), with solver cost reported. D is the classical-planner comparison and must at least match C at comparable solve time. Only A is delivered this semester, along with the verifier, rule set and evaluation harness. B and D targets are provisional and will be frozen before those models run, so they cannot be moved after results are seen.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 min. Spend most of the time on the top panel; it is our baseline. Hager et al. asked whether LLMs can make real clinical decisions rather than answer exam questions. They built a framework where the model gathers information step by step (history, physical exam, labs, imaging) on 2,400 MIMIC-IV admissions across four abdominal conditions, the same cases we use. Models did worse than physicians, skipped labs the guidelines require, misread lab results against their ranges, and did not follow diagnostic and treatment guidelines. In the autonomous setting, OASST 70B reached 54.9% mean diagnostic accuracy in Figure 3; that is the number we reproduce with the authors' public code, pinned to a version. Two caveats to say out loud: it measures diagnosis while we measure rule validity, so the numbers are never compared directly; and the 70B model needs GPU or HPC access, which is our main compute risk. The three papers below shape the design. Valmeekam et al.: GPT-4 checking its own plans moved success from 40 to 55 out of 100, while a sound verifier reached 88, so the checker is a solver, not the model. VeriMed shows Z3 counterexamples can drive repair, the pattern for Model C. LLM+P shows a classical planner beats an LLM alone, the basis for Model D. Also reviewed: Logic-LM, SatLM, Huang et al., Hekmatnejad et al., and a Z3 verifier for radiology reports.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These tools extract, generate or format clinical text. None of them lets a team write explicit safety rules and get a pass, or the exact rule that failed. The hospital pilots show the shift is already happening (Stanford MedAgentBrief drafted 384 discharges for 11 attending physicians; a Dutch academic hospital evaluated 292 of about 1,000 discharge cases), and in each the safety net is a physician reading the draft. Our project is not a replacement for any of these products; it is a verification layer that could sit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Source and size first: 2,400 real, de-identified admissions across four abdominal conditions; the full 10 GB MIMIC-IV is used only to confirm every ID is a real admission. Cleaning decisions each have a reason: duplicates removed only where rows are exact copies; labs that cannot be flagged stay unknown rather than guessed; outliers stay because extreme values are real clinical cases. Splits are stratified because appendicitis has 3.7 times as many cases as diverticulitis; only case IDs are saved. Validation checks are run on clean data and on deliberately broken copies to prove they can fail. Under the license, patient text stays on each member's machine; only aggregate figures are written to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min. Each work package has one primary owner: Akash data and manifest, Ritika Model A, Sneha the rule catalog, Rajesh metrics, splits, baseline and harness, Shruthi environment, CI and the verifier. Code lives in GitHub with a teammate reviewing every change. Linear runs two-week cycles; every issue has one assignee and is closed only with a linked artifact such as a commit, notebook run or meeting record. The data row matters most: under the PhysioNet license nobody commits patient data, so the repo holds code and aggregate results only, and the incident-response line is what we do if that ever fails.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min. The pipeline is finished, so the critical path is: rule set v1 by Oct 22, then the Z3 verifier and evaluation harness by Nov 5, with Model A generating plans in parallel by the same date. Team Meeting 2 on Nov 12 is the demo: Model A plans running through the verifier and harness. The Hager baseline runs on a separate path because it needs GPU or HPC access for the 70B model; it must land before the final report. The 100-case test run and failure study follow in late November, then the final report on Dec 7 and the presentation on Dec 8. We keep a three- to four-day buffer before each submission, and the Linear board is the operational source of truth if it and this slide differ.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Every number here comes from our own data analysis. Imbalance: results are reported per condition with intervals, because one overall figure mostly reflects appendicitis and only 11 diverticulitis cases are in the test set. Missing data: about one lab row in three has no usable number or reference range, and a rule that needs a culture has no input for about one patient in four, so we report rule coverage next to validity. Operational: the largest schedule risk is GPU access for the 70B Hager baseline; we are requesting university GPU or HPC time, and the fallback is a smaller model with the difference documented. Z3 cost at scale and run-to-run variation in repair are the main technical unknowns, so we start with high-severity rules. Ethical: we break results down by sex and age group through the MIMIC-IV link, and the checker is decision support, never a replacement for clinician review.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then 3 min Q&amp;A. Summarize: the data foundation is done, and the next three steps are the rule set and verifier, Model A, and the Hager baseline. Ask for feedback on the open items: GPU or HPC access for the 70B baseline, which local open-weight model to run Model A on (patient text cannot go to a hosted API under the license), and the targets for the secondary metrics.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1200" dirty="0">
                <a:solidFill>
                  <a:schemeClr val="tx2"/>
                </a:solidFill>
              </a:rPr>
              <a:t>Team 6 · Neurosymbolic verification of discharge plans</a:t>
            </a:r>
            <a:endParaRPr lang="en-US" sz="1200" dirty="0"/>
          </a:p>
        </p:txBody>
      </p:sp>
      <p:sp>
        <p:nvSpPr>
          <p:cNvPr id="25" name="Slide Number Placeholder 0"/>
          <p:cNvSpPr>
            <a:spLocks noGrp="1"/>
          </p:cNvSpPr>
          <p:nvPr>
            <p:ph type="sldNum" sz="quarter" idx="4294967295"/>
          </p:nvPr>
        </p:nvSpPr>
        <p:spPr>
          <a:xfrm>
            <a:off x="10698480" y="635508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1200" dirty="0">
                <a:solidFill>
                  <a:schemeClr val="accent5"/>
                </a:solidFill>
              </a:rPr>
              <a:t>Team 6 · Neurosymbolic verification of discharge plans</a:t>
            </a:r>
            <a:endParaRPr lang="en-US" sz="1200" dirty="0"/>
          </a:p>
        </p:txBody>
      </p:sp>
      <p:sp>
        <p:nvSpPr>
          <p:cNvPr id="25" name="Slide Number Placeholder 0"/>
          <p:cNvSpPr>
            <a:spLocks noGrp="1"/>
          </p:cNvSpPr>
          <p:nvPr>
            <p:ph type="sldNum" sz="quarter" idx="4294967295"/>
          </p:nvPr>
        </p:nvSpPr>
        <p:spPr>
          <a:xfrm>
            <a:off x="10698480" y="635508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98480" y="635508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chemeClr val="accent2"/>
                </a:solidFill>
              </a:rPr>
              <a:t>DATA 298A · TEAM 6 · SECTION 22 · TOPIC 12</a:t>
            </a:r>
            <a:endParaRPr lang="en-US" sz="1200" dirty="0"/>
          </a:p>
        </p:txBody>
      </p:sp>
      <p:sp>
        <p:nvSpPr>
          <p:cNvPr id="3" name="Cover title"/>
          <p:cNvSpPr txBox="1"/>
          <p:nvPr/>
        </p:nvSpPr>
        <p:spPr>
          <a:xfrm>
            <a:off x="548640" y="1097280"/>
            <a:ext cx="10607040" cy="201168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Neurosymbolic Verification of LLM-Generated Clinical Discharge and Treatment Plans</a:t>
            </a:r>
            <a:endParaRPr lang="en-US" sz="4400" dirty="0"/>
          </a:p>
        </p:txBody>
      </p:sp>
      <p:sp>
        <p:nvSpPr>
          <p:cNvPr id="4" name="Text 2"/>
          <p:cNvSpPr txBox="1"/>
          <p:nvPr/>
        </p:nvSpPr>
        <p:spPr>
          <a:xfrm>
            <a:off x="548640" y="3291840"/>
            <a:ext cx="10058400" cy="457200"/>
          </a:xfrm>
          <a:prstGeom prst="rect">
            <a:avLst/>
          </a:prstGeom>
          <a:noFill/>
          <a:ln/>
        </p:spPr>
        <p:txBody>
          <a:bodyPr wrap="square" lIns="0" tIns="0" rIns="0" bIns="0" rtlCol="0" anchor="ctr"/>
          <a:lstStyle/>
          <a:p>
            <a:pPr indent="0" marL="0">
              <a:buNone/>
            </a:pPr>
            <a:r>
              <a:rPr lang="en-US" sz="2000" dirty="0">
                <a:solidFill>
                  <a:schemeClr val="accent5"/>
                </a:solidFill>
              </a:rPr>
              <a:t>Team meeting 1 · Requirements, deliverables, data, plan and risks</a:t>
            </a:r>
            <a:endParaRPr lang="en-US" sz="2000" dirty="0"/>
          </a:p>
        </p:txBody>
      </p:sp>
      <p:sp>
        <p:nvSpPr>
          <p:cNvPr id="5" name="Role card 1"/>
          <p:cNvSpPr/>
          <p:nvPr/>
        </p:nvSpPr>
        <p:spPr>
          <a:xfrm>
            <a:off x="548640" y="4206240"/>
            <a:ext cx="2103120" cy="1325880"/>
          </a:xfrm>
          <a:prstGeom prst="roundRect">
            <a:avLst>
              <a:gd name="adj" fmla="val 5517"/>
            </a:avLst>
          </a:prstGeom>
          <a:solidFill>
            <a:schemeClr val="accent6"/>
          </a:solidFill>
          <a:ln w="12700">
            <a:solidFill>
              <a:schemeClr val="accent4"/>
            </a:solidFill>
            <a:prstDash val="solid"/>
          </a:ln>
        </p:spPr>
      </p:sp>
      <p:sp>
        <p:nvSpPr>
          <p:cNvPr id="6" name="Text 4"/>
          <p:cNvSpPr txBox="1"/>
          <p:nvPr/>
        </p:nvSpPr>
        <p:spPr>
          <a:xfrm>
            <a:off x="685800" y="4297680"/>
            <a:ext cx="1828800" cy="1143000"/>
          </a:xfrm>
          <a:prstGeom prst="rect">
            <a:avLst/>
          </a:prstGeom>
          <a:noFill/>
          <a:ln/>
        </p:spPr>
        <p:txBody>
          <a:bodyPr wrap="square" lIns="0" tIns="0" rIns="0" bIns="0" rtlCol="0" anchor="ctr"/>
          <a:lstStyle/>
          <a:p>
            <a:pPr indent="0" marL="0">
              <a:spcAft>
                <a:spcPts val="400"/>
              </a:spcAft>
              <a:buNone/>
            </a:pPr>
            <a:r>
              <a:rPr lang="en-US" sz="1600" b="1" dirty="0">
                <a:solidFill>
                  <a:schemeClr val="bg1"/>
                </a:solidFill>
              </a:rPr>
              <a:t>Ritika Mukesh Neema</a:t>
            </a:r>
            <a:endParaRPr lang="en-US" sz="1600" dirty="0"/>
          </a:p>
          <a:p>
            <a:pPr indent="0" marL="0">
              <a:spcAft>
                <a:spcPts val="400"/>
              </a:spcAft>
              <a:buNone/>
            </a:pPr>
            <a:r>
              <a:rPr lang="en-US" sz="1400" dirty="0">
                <a:solidFill>
                  <a:schemeClr val="accent2"/>
                </a:solidFill>
              </a:rPr>
              <a:t>Model A</a:t>
            </a:r>
            <a:endParaRPr lang="en-US" sz="1600" dirty="0"/>
          </a:p>
        </p:txBody>
      </p:sp>
      <p:sp>
        <p:nvSpPr>
          <p:cNvPr id="7" name="Role card 2"/>
          <p:cNvSpPr/>
          <p:nvPr/>
        </p:nvSpPr>
        <p:spPr>
          <a:xfrm>
            <a:off x="2779776" y="4206240"/>
            <a:ext cx="2103120" cy="1325880"/>
          </a:xfrm>
          <a:prstGeom prst="roundRect">
            <a:avLst>
              <a:gd name="adj" fmla="val 5517"/>
            </a:avLst>
          </a:prstGeom>
          <a:solidFill>
            <a:schemeClr val="accent6"/>
          </a:solidFill>
          <a:ln w="12700">
            <a:solidFill>
              <a:schemeClr val="accent4"/>
            </a:solidFill>
            <a:prstDash val="solid"/>
          </a:ln>
        </p:spPr>
      </p:sp>
      <p:sp>
        <p:nvSpPr>
          <p:cNvPr id="8" name="Text 6"/>
          <p:cNvSpPr txBox="1"/>
          <p:nvPr/>
        </p:nvSpPr>
        <p:spPr>
          <a:xfrm>
            <a:off x="2916936" y="4297680"/>
            <a:ext cx="1828800" cy="1143000"/>
          </a:xfrm>
          <a:prstGeom prst="rect">
            <a:avLst/>
          </a:prstGeom>
          <a:noFill/>
          <a:ln/>
        </p:spPr>
        <p:txBody>
          <a:bodyPr wrap="square" lIns="0" tIns="0" rIns="0" bIns="0" rtlCol="0" anchor="ctr"/>
          <a:lstStyle/>
          <a:p>
            <a:pPr indent="0" marL="0">
              <a:spcAft>
                <a:spcPts val="400"/>
              </a:spcAft>
              <a:buNone/>
            </a:pPr>
            <a:r>
              <a:rPr lang="en-US" sz="1600" b="1" dirty="0">
                <a:solidFill>
                  <a:schemeClr val="bg1"/>
                </a:solidFill>
              </a:rPr>
              <a:t>Sneha Singh</a:t>
            </a:r>
            <a:endParaRPr lang="en-US" sz="1600" dirty="0"/>
          </a:p>
          <a:p>
            <a:pPr indent="0" marL="0">
              <a:spcAft>
                <a:spcPts val="400"/>
              </a:spcAft>
              <a:buNone/>
            </a:pPr>
            <a:r>
              <a:rPr lang="en-US" sz="1400" dirty="0">
                <a:solidFill>
                  <a:schemeClr val="accent2"/>
                </a:solidFill>
              </a:rPr>
              <a:t>Rules and verifier</a:t>
            </a:r>
            <a:endParaRPr lang="en-US" sz="1600" dirty="0"/>
          </a:p>
        </p:txBody>
      </p:sp>
      <p:sp>
        <p:nvSpPr>
          <p:cNvPr id="9" name="Role card 3"/>
          <p:cNvSpPr/>
          <p:nvPr/>
        </p:nvSpPr>
        <p:spPr>
          <a:xfrm>
            <a:off x="5010912" y="4206240"/>
            <a:ext cx="2103120" cy="1325880"/>
          </a:xfrm>
          <a:prstGeom prst="roundRect">
            <a:avLst>
              <a:gd name="adj" fmla="val 5517"/>
            </a:avLst>
          </a:prstGeom>
          <a:solidFill>
            <a:schemeClr val="accent6"/>
          </a:solidFill>
          <a:ln w="12700">
            <a:solidFill>
              <a:schemeClr val="accent4"/>
            </a:solidFill>
            <a:prstDash val="solid"/>
          </a:ln>
        </p:spPr>
      </p:sp>
      <p:sp>
        <p:nvSpPr>
          <p:cNvPr id="10" name="Text 8"/>
          <p:cNvSpPr txBox="1"/>
          <p:nvPr/>
        </p:nvSpPr>
        <p:spPr>
          <a:xfrm>
            <a:off x="5148072" y="4297680"/>
            <a:ext cx="1828800" cy="1143000"/>
          </a:xfrm>
          <a:prstGeom prst="rect">
            <a:avLst/>
          </a:prstGeom>
          <a:noFill/>
          <a:ln/>
        </p:spPr>
        <p:txBody>
          <a:bodyPr wrap="square" lIns="0" tIns="0" rIns="0" bIns="0" rtlCol="0" anchor="ctr"/>
          <a:lstStyle/>
          <a:p>
            <a:pPr indent="0" marL="0">
              <a:spcAft>
                <a:spcPts val="400"/>
              </a:spcAft>
              <a:buNone/>
            </a:pPr>
            <a:r>
              <a:rPr lang="en-US" sz="1600" b="1" dirty="0">
                <a:solidFill>
                  <a:schemeClr val="bg1"/>
                </a:solidFill>
              </a:rPr>
              <a:t>Akashkumar Senthilkumar</a:t>
            </a:r>
            <a:endParaRPr lang="en-US" sz="1600" dirty="0"/>
          </a:p>
          <a:p>
            <a:pPr indent="0" marL="0">
              <a:spcAft>
                <a:spcPts val="400"/>
              </a:spcAft>
              <a:buNone/>
            </a:pPr>
            <a:r>
              <a:rPr lang="en-US" sz="1400" dirty="0">
                <a:solidFill>
                  <a:schemeClr val="accent2"/>
                </a:solidFill>
              </a:rPr>
              <a:t>Data and manifest</a:t>
            </a:r>
            <a:endParaRPr lang="en-US" sz="1600" dirty="0"/>
          </a:p>
        </p:txBody>
      </p:sp>
      <p:sp>
        <p:nvSpPr>
          <p:cNvPr id="11" name="Role card 4"/>
          <p:cNvSpPr/>
          <p:nvPr/>
        </p:nvSpPr>
        <p:spPr>
          <a:xfrm>
            <a:off x="7242048" y="4206240"/>
            <a:ext cx="2103120" cy="1325880"/>
          </a:xfrm>
          <a:prstGeom prst="roundRect">
            <a:avLst>
              <a:gd name="adj" fmla="val 5517"/>
            </a:avLst>
          </a:prstGeom>
          <a:solidFill>
            <a:schemeClr val="accent6"/>
          </a:solidFill>
          <a:ln w="12700">
            <a:solidFill>
              <a:schemeClr val="accent4"/>
            </a:solidFill>
            <a:prstDash val="solid"/>
          </a:ln>
        </p:spPr>
      </p:sp>
      <p:sp>
        <p:nvSpPr>
          <p:cNvPr id="12" name="Text 10"/>
          <p:cNvSpPr txBox="1"/>
          <p:nvPr/>
        </p:nvSpPr>
        <p:spPr>
          <a:xfrm>
            <a:off x="7379208" y="4297680"/>
            <a:ext cx="1828800" cy="1143000"/>
          </a:xfrm>
          <a:prstGeom prst="rect">
            <a:avLst/>
          </a:prstGeom>
          <a:noFill/>
          <a:ln/>
        </p:spPr>
        <p:txBody>
          <a:bodyPr wrap="square" lIns="0" tIns="0" rIns="0" bIns="0" rtlCol="0" anchor="ctr"/>
          <a:lstStyle/>
          <a:p>
            <a:pPr indent="0" marL="0">
              <a:spcAft>
                <a:spcPts val="400"/>
              </a:spcAft>
              <a:buNone/>
            </a:pPr>
            <a:r>
              <a:rPr lang="en-US" sz="1600" b="1" dirty="0">
                <a:solidFill>
                  <a:schemeClr val="bg1"/>
                </a:solidFill>
              </a:rPr>
              <a:t>Rajesh Paruchuri</a:t>
            </a:r>
            <a:endParaRPr lang="en-US" sz="1600" dirty="0"/>
          </a:p>
          <a:p>
            <a:pPr indent="0" marL="0">
              <a:spcAft>
                <a:spcPts val="400"/>
              </a:spcAft>
              <a:buNone/>
            </a:pPr>
            <a:r>
              <a:rPr lang="en-US" sz="1400" dirty="0">
                <a:solidFill>
                  <a:schemeClr val="accent2"/>
                </a:solidFill>
              </a:rPr>
              <a:t>Evaluation and baseline</a:t>
            </a:r>
            <a:endParaRPr lang="en-US" sz="1600" dirty="0"/>
          </a:p>
        </p:txBody>
      </p:sp>
      <p:sp>
        <p:nvSpPr>
          <p:cNvPr id="13" name="Role card 5"/>
          <p:cNvSpPr/>
          <p:nvPr/>
        </p:nvSpPr>
        <p:spPr>
          <a:xfrm>
            <a:off x="9473184" y="4206240"/>
            <a:ext cx="2103120" cy="1325880"/>
          </a:xfrm>
          <a:prstGeom prst="roundRect">
            <a:avLst>
              <a:gd name="adj" fmla="val 5517"/>
            </a:avLst>
          </a:prstGeom>
          <a:solidFill>
            <a:schemeClr val="accent6"/>
          </a:solidFill>
          <a:ln w="12700">
            <a:solidFill>
              <a:schemeClr val="accent4"/>
            </a:solidFill>
            <a:prstDash val="solid"/>
          </a:ln>
        </p:spPr>
      </p:sp>
      <p:sp>
        <p:nvSpPr>
          <p:cNvPr id="14" name="Text 12"/>
          <p:cNvSpPr txBox="1"/>
          <p:nvPr/>
        </p:nvSpPr>
        <p:spPr>
          <a:xfrm>
            <a:off x="9610344" y="4297680"/>
            <a:ext cx="1828800" cy="1143000"/>
          </a:xfrm>
          <a:prstGeom prst="rect">
            <a:avLst/>
          </a:prstGeom>
          <a:noFill/>
          <a:ln/>
        </p:spPr>
        <p:txBody>
          <a:bodyPr wrap="square" lIns="0" tIns="0" rIns="0" bIns="0" rtlCol="0" anchor="ctr"/>
          <a:lstStyle/>
          <a:p>
            <a:pPr indent="0" marL="0">
              <a:spcAft>
                <a:spcPts val="400"/>
              </a:spcAft>
              <a:buNone/>
            </a:pPr>
            <a:r>
              <a:rPr lang="en-US" sz="1600" b="1" dirty="0">
                <a:solidFill>
                  <a:schemeClr val="bg1"/>
                </a:solidFill>
              </a:rPr>
              <a:t>Shruthi Thirukumaran</a:t>
            </a:r>
            <a:endParaRPr lang="en-US" sz="1600" dirty="0"/>
          </a:p>
          <a:p>
            <a:pPr indent="0" marL="0">
              <a:spcAft>
                <a:spcPts val="400"/>
              </a:spcAft>
              <a:buNone/>
            </a:pPr>
            <a:r>
              <a:rPr lang="en-US" sz="1400" dirty="0">
                <a:solidFill>
                  <a:schemeClr val="accent2"/>
                </a:solidFill>
              </a:rPr>
              <a:t>Infrastructure and verifier</a:t>
            </a:r>
            <a:endParaRPr lang="en-US" sz="1600" dirty="0"/>
          </a:p>
        </p:txBody>
      </p:sp>
      <p:sp>
        <p:nvSpPr>
          <p:cNvPr id="15" name="Text 13"/>
          <p:cNvSpPr txBox="1"/>
          <p:nvPr/>
        </p:nvSpPr>
        <p:spPr>
          <a:xfrm>
            <a:off x="548640" y="5943600"/>
            <a:ext cx="10058400" cy="274320"/>
          </a:xfrm>
          <a:prstGeom prst="rect">
            <a:avLst/>
          </a:prstGeom>
          <a:noFill/>
          <a:ln/>
        </p:spPr>
        <p:txBody>
          <a:bodyPr wrap="square" lIns="0" tIns="0" rIns="0" bIns="0" rtlCol="0" anchor="ctr"/>
          <a:lstStyle/>
          <a:p>
            <a:pPr indent="0" marL="0">
              <a:buNone/>
            </a:pPr>
            <a:r>
              <a:rPr lang="en-US" sz="1400" dirty="0">
                <a:solidFill>
                  <a:schemeClr val="accent5"/>
                </a:solidFill>
              </a:rPr>
              <a:t>github.com/Akashkumarsenthil/Clinical-Discharge-Treatment-Plan-Verification</a:t>
            </a:r>
            <a:endParaRPr lang="en-US" sz="1400" dirty="0"/>
          </a:p>
        </p:txBody>
      </p:sp>
      <p:sp>
        <p:nvSpPr>
          <p:cNvPr id="17"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endParaRPr lang="en-US" sz="3400" dirty="0"/>
          </a:p>
        </p:txBody>
      </p:sp>
      <p:sp>
        <p:nvSpPr>
          <p:cNvPr id="25" name="Slide Number Placeholder 0"/>
          <p:cNvSpPr>
            <a:spLocks noGrp="1"/>
          </p:cNvSpPr>
          <p:nvPr>
            <p:ph type="sldNum" sz="quarter" idx="4294967295"/>
          </p:nvPr>
        </p:nvSpPr>
        <p:spPr>
          <a:xfrm>
            <a:off x="10698480" y="635508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REQUIREMENTS</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Goals, scope and success criteria</a:t>
            </a:r>
            <a:endParaRPr lang="en-US" sz="3400" dirty="0"/>
          </a:p>
        </p:txBody>
      </p:sp>
      <p:sp>
        <p:nvSpPr>
          <p:cNvPr id="4" name="Text 2"/>
          <p:cNvSpPr txBox="1"/>
          <p:nvPr/>
        </p:nvSpPr>
        <p:spPr>
          <a:xfrm>
            <a:off x="548640" y="1463040"/>
            <a:ext cx="6217920" cy="1143000"/>
          </a:xfrm>
          <a:prstGeom prst="rect">
            <a:avLst/>
          </a:prstGeom>
          <a:noFill/>
          <a:ln/>
        </p:spPr>
        <p:txBody>
          <a:bodyPr wrap="square" lIns="0" tIns="0" rIns="0" bIns="0" rtlCol="0" anchor="t"/>
          <a:lstStyle/>
          <a:p>
            <a:pPr indent="0" marL="0">
              <a:spcAft>
                <a:spcPts val="400"/>
              </a:spcAft>
              <a:buNone/>
            </a:pPr>
            <a:r>
              <a:rPr lang="en-US" sz="2000" b="1" dirty="0">
                <a:solidFill>
                  <a:schemeClr val="accent1"/>
                </a:solidFill>
              </a:rPr>
              <a:t>Goal</a:t>
            </a:r>
            <a:endParaRPr lang="en-US" sz="2000" dirty="0"/>
          </a:p>
          <a:p>
            <a:pPr indent="0" marL="0">
              <a:spcAft>
                <a:spcPts val="400"/>
              </a:spcAft>
              <a:buNone/>
            </a:pPr>
            <a:r>
              <a:rPr lang="en-US" sz="1600" dirty="0">
                <a:solidFill>
                  <a:schemeClr val="tx1"/>
                </a:solidFill>
              </a:rPr>
              <a:t>Check an LLM-written discharge or treatment plan against safety rules the team writes, before a clinician or system acts on it.</a:t>
            </a:r>
            <a:endParaRPr lang="en-US" sz="2000" dirty="0"/>
          </a:p>
        </p:txBody>
      </p:sp>
      <p:sp>
        <p:nvSpPr>
          <p:cNvPr id="5" name="Text 3"/>
          <p:cNvSpPr txBox="1"/>
          <p:nvPr/>
        </p:nvSpPr>
        <p:spPr>
          <a:xfrm>
            <a:off x="548640" y="2743200"/>
            <a:ext cx="6217920" cy="1783080"/>
          </a:xfrm>
          <a:prstGeom prst="rect">
            <a:avLst/>
          </a:prstGeom>
          <a:noFill/>
          <a:ln/>
        </p:spPr>
        <p:txBody>
          <a:bodyPr wrap="square" lIns="0" tIns="0" rIns="0" bIns="0" rtlCol="0" anchor="t"/>
          <a:lstStyle/>
          <a:p>
            <a:pPr indent="0" marL="0">
              <a:spcAft>
                <a:spcPts val="400"/>
              </a:spcAft>
              <a:buNone/>
            </a:pPr>
            <a:r>
              <a:rPr lang="en-US" sz="2000" b="1" dirty="0">
                <a:solidFill>
                  <a:schemeClr val="accent1"/>
                </a:solidFill>
              </a:rPr>
              <a:t>In scope for DATA 298A</a:t>
            </a:r>
            <a:endParaRPr lang="en-US" sz="2000" dirty="0"/>
          </a:p>
          <a:p>
            <a:pPr marL="342900" indent="-342900">
              <a:spcAft>
                <a:spcPts val="300"/>
              </a:spcAft>
              <a:buSzPct val="100000"/>
              <a:buChar char="•"/>
            </a:pPr>
            <a:r>
              <a:rPr lang="en-US" sz="1600" dirty="0">
                <a:solidFill>
                  <a:schemeClr val="tx1"/>
                </a:solidFill>
              </a:rPr>
              <a:t>Verifier and rule set</a:t>
            </a:r>
            <a:endParaRPr lang="en-US" sz="2000" dirty="0"/>
          </a:p>
          <a:p>
            <a:pPr marL="342900" indent="-342900">
              <a:spcAft>
                <a:spcPts val="300"/>
              </a:spcAft>
              <a:buSzPct val="100000"/>
              <a:buChar char="•"/>
            </a:pPr>
            <a:r>
              <a:rPr lang="en-US" sz="1600" dirty="0">
                <a:solidFill>
                  <a:schemeClr val="tx1"/>
                </a:solidFill>
              </a:rPr>
              <a:t>Evaluation harness and benchmark</a:t>
            </a:r>
            <a:endParaRPr lang="en-US" sz="2000" dirty="0"/>
          </a:p>
          <a:p>
            <a:pPr marL="342900" indent="-342900">
              <a:spcAft>
                <a:spcPts val="300"/>
              </a:spcAft>
              <a:buSzPct val="100000"/>
              <a:buChar char="•"/>
            </a:pPr>
            <a:r>
              <a:rPr lang="en-US" sz="1600" dirty="0">
                <a:solidFill>
                  <a:schemeClr val="tx1"/>
                </a:solidFill>
              </a:rPr>
              <a:t>Model A: direct LLM plan generation</a:t>
            </a:r>
            <a:endParaRPr lang="en-US" sz="2000" dirty="0"/>
          </a:p>
          <a:p>
            <a:pPr marL="342900" indent="-342900">
              <a:spcAft>
                <a:spcPts val="300"/>
              </a:spcAft>
              <a:buSzPct val="100000"/>
              <a:buChar char="•"/>
            </a:pPr>
            <a:r>
              <a:rPr lang="en-US" sz="1600" dirty="0">
                <a:solidFill>
                  <a:schemeClr val="tx1"/>
                </a:solidFill>
              </a:rPr>
              <a:t>Reproduced Hager et al. baseline</a:t>
            </a:r>
            <a:endParaRPr lang="en-US" sz="2000" dirty="0"/>
          </a:p>
        </p:txBody>
      </p:sp>
      <p:sp>
        <p:nvSpPr>
          <p:cNvPr id="6" name="Text 4"/>
          <p:cNvSpPr txBox="1"/>
          <p:nvPr/>
        </p:nvSpPr>
        <p:spPr>
          <a:xfrm>
            <a:off x="548640" y="4617720"/>
            <a:ext cx="6217920" cy="1371600"/>
          </a:xfrm>
          <a:prstGeom prst="rect">
            <a:avLst/>
          </a:prstGeom>
          <a:noFill/>
          <a:ln/>
        </p:spPr>
        <p:txBody>
          <a:bodyPr wrap="square" lIns="0" tIns="0" rIns="0" bIns="0" rtlCol="0" anchor="t"/>
          <a:lstStyle/>
          <a:p>
            <a:pPr indent="0" marL="0">
              <a:spcAft>
                <a:spcPts val="400"/>
              </a:spcAft>
              <a:buNone/>
            </a:pPr>
            <a:r>
              <a:rPr lang="en-US" sz="2000" b="1" dirty="0">
                <a:solidFill>
                  <a:schemeClr val="accent1"/>
                </a:solidFill>
              </a:rPr>
              <a:t>Out of scope</a:t>
            </a:r>
            <a:endParaRPr lang="en-US" sz="2000" dirty="0"/>
          </a:p>
          <a:p>
            <a:pPr marL="342900" indent="-342900">
              <a:spcAft>
                <a:spcPts val="300"/>
              </a:spcAft>
              <a:buSzPct val="100000"/>
              <a:buChar char="•"/>
            </a:pPr>
            <a:r>
              <a:rPr lang="en-US" sz="1600" dirty="0">
                <a:solidFill>
                  <a:schemeClr val="tx1"/>
                </a:solidFill>
              </a:rPr>
              <a:t>Models B, C and D (DATA 298B)</a:t>
            </a:r>
            <a:endParaRPr lang="en-US" sz="2000" dirty="0"/>
          </a:p>
          <a:p>
            <a:pPr marL="342900" indent="-342900">
              <a:spcAft>
                <a:spcPts val="300"/>
              </a:spcAft>
              <a:buSzPct val="100000"/>
              <a:buChar char="•"/>
            </a:pPr>
            <a:r>
              <a:rPr lang="en-US" sz="1600" dirty="0">
                <a:solidFill>
                  <a:schemeClr val="tx1"/>
                </a:solidFill>
              </a:rPr>
              <a:t>Conditions beyond four abdominal pathologies</a:t>
            </a:r>
            <a:endParaRPr lang="en-US" sz="2000" dirty="0"/>
          </a:p>
          <a:p>
            <a:pPr marL="342900" indent="-342900">
              <a:spcAft>
                <a:spcPts val="300"/>
              </a:spcAft>
              <a:buSzPct val="100000"/>
              <a:buChar char="•"/>
            </a:pPr>
            <a:r>
              <a:rPr lang="en-US" sz="1600" dirty="0">
                <a:solidFill>
                  <a:schemeClr val="tx1"/>
                </a:solidFill>
              </a:rPr>
              <a:t>Clinical deployment</a:t>
            </a:r>
            <a:endParaRPr lang="en-US" sz="2000" dirty="0"/>
          </a:p>
        </p:txBody>
      </p:sp>
      <p:sp>
        <p:nvSpPr>
          <p:cNvPr id="7" name="Stat card 1"/>
          <p:cNvSpPr/>
          <p:nvPr/>
        </p:nvSpPr>
        <p:spPr>
          <a:xfrm>
            <a:off x="7223760" y="1463040"/>
            <a:ext cx="4416552" cy="1097280"/>
          </a:xfrm>
          <a:prstGeom prst="roundRect">
            <a:avLst>
              <a:gd name="adj" fmla="val 6667"/>
            </a:avLst>
          </a:prstGeom>
          <a:solidFill>
            <a:schemeClr val="tx1"/>
          </a:solidFill>
          <a:ln w="12700">
            <a:solidFill>
              <a:schemeClr val="tx1"/>
            </a:solidFill>
            <a:prstDash val="solid"/>
          </a:ln>
        </p:spPr>
      </p:sp>
      <p:sp>
        <p:nvSpPr>
          <p:cNvPr id="8" name="Text 6"/>
          <p:cNvSpPr txBox="1"/>
          <p:nvPr/>
        </p:nvSpPr>
        <p:spPr>
          <a:xfrm>
            <a:off x="7360920" y="1463040"/>
            <a:ext cx="1737360" cy="109728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 0.85</a:t>
            </a:r>
            <a:endParaRPr lang="en-US" sz="3200" dirty="0"/>
          </a:p>
        </p:txBody>
      </p:sp>
      <p:sp>
        <p:nvSpPr>
          <p:cNvPr id="9" name="Text 7"/>
          <p:cNvSpPr txBox="1"/>
          <p:nvPr/>
        </p:nvSpPr>
        <p:spPr>
          <a:xfrm>
            <a:off x="9144000" y="1463040"/>
            <a:ext cx="2377440" cy="1097280"/>
          </a:xfrm>
          <a:prstGeom prst="rect">
            <a:avLst/>
          </a:prstGeom>
          <a:noFill/>
          <a:ln/>
        </p:spPr>
        <p:txBody>
          <a:bodyPr wrap="square" lIns="0" tIns="0" rIns="0" bIns="0" rtlCol="0" anchor="ctr"/>
          <a:lstStyle/>
          <a:p>
            <a:pPr indent="0" marL="0">
              <a:buNone/>
            </a:pPr>
            <a:r>
              <a:rPr lang="en-US" sz="1400" dirty="0">
                <a:solidFill>
                  <a:schemeClr val="bg1"/>
                </a:solidFill>
              </a:rPr>
              <a:t>Plan validity rate on 100 held-out cases</a:t>
            </a:r>
            <a:endParaRPr lang="en-US" sz="1400" dirty="0"/>
          </a:p>
        </p:txBody>
      </p:sp>
      <p:sp>
        <p:nvSpPr>
          <p:cNvPr id="10" name="Stat card 2"/>
          <p:cNvSpPr/>
          <p:nvPr/>
        </p:nvSpPr>
        <p:spPr>
          <a:xfrm>
            <a:off x="7223760" y="2697480"/>
            <a:ext cx="4416552" cy="1097280"/>
          </a:xfrm>
          <a:prstGeom prst="roundRect">
            <a:avLst>
              <a:gd name="adj" fmla="val 6667"/>
            </a:avLst>
          </a:prstGeom>
          <a:solidFill>
            <a:schemeClr val="tx1"/>
          </a:solidFill>
          <a:ln w="12700">
            <a:solidFill>
              <a:schemeClr val="tx1"/>
            </a:solidFill>
            <a:prstDash val="solid"/>
          </a:ln>
        </p:spPr>
      </p:sp>
      <p:sp>
        <p:nvSpPr>
          <p:cNvPr id="11" name="Text 9"/>
          <p:cNvSpPr txBox="1"/>
          <p:nvPr/>
        </p:nvSpPr>
        <p:spPr>
          <a:xfrm>
            <a:off x="7360920" y="2697480"/>
            <a:ext cx="1737360" cy="109728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 0.05</a:t>
            </a:r>
            <a:endParaRPr lang="en-US" sz="3200" dirty="0"/>
          </a:p>
        </p:txBody>
      </p:sp>
      <p:sp>
        <p:nvSpPr>
          <p:cNvPr id="12" name="Text 10"/>
          <p:cNvSpPr txBox="1"/>
          <p:nvPr/>
        </p:nvSpPr>
        <p:spPr>
          <a:xfrm>
            <a:off x="9144000" y="2697480"/>
            <a:ext cx="2377440" cy="1097280"/>
          </a:xfrm>
          <a:prstGeom prst="rect">
            <a:avLst/>
          </a:prstGeom>
          <a:noFill/>
          <a:ln/>
        </p:spPr>
        <p:txBody>
          <a:bodyPr wrap="square" lIns="0" tIns="0" rIns="0" bIns="0" rtlCol="0" anchor="ctr"/>
          <a:lstStyle/>
          <a:p>
            <a:pPr indent="0" marL="0">
              <a:buNone/>
            </a:pPr>
            <a:r>
              <a:rPr lang="en-US" sz="1400" dirty="0">
                <a:solidFill>
                  <a:schemeClr val="bg1"/>
                </a:solidFill>
              </a:rPr>
              <a:t>Constraint-violation escape rate</a:t>
            </a:r>
            <a:endParaRPr lang="en-US" sz="1400" dirty="0"/>
          </a:p>
        </p:txBody>
      </p:sp>
      <p:sp>
        <p:nvSpPr>
          <p:cNvPr id="13" name="Stat card 3"/>
          <p:cNvSpPr/>
          <p:nvPr/>
        </p:nvSpPr>
        <p:spPr>
          <a:xfrm>
            <a:off x="7223760" y="3931920"/>
            <a:ext cx="4416552" cy="1097280"/>
          </a:xfrm>
          <a:prstGeom prst="roundRect">
            <a:avLst>
              <a:gd name="adj" fmla="val 6667"/>
            </a:avLst>
          </a:prstGeom>
          <a:solidFill>
            <a:schemeClr val="bg2"/>
          </a:solidFill>
          <a:ln w="12700">
            <a:solidFill>
              <a:schemeClr val="accent5"/>
            </a:solidFill>
            <a:prstDash val="solid"/>
          </a:ln>
        </p:spPr>
      </p:sp>
      <p:sp>
        <p:nvSpPr>
          <p:cNvPr id="14" name="Text 12"/>
          <p:cNvSpPr txBox="1"/>
          <p:nvPr/>
        </p:nvSpPr>
        <p:spPr>
          <a:xfrm>
            <a:off x="7360920" y="3931920"/>
            <a:ext cx="1737360" cy="109728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54.9%</a:t>
            </a:r>
            <a:endParaRPr lang="en-US" sz="3200" dirty="0"/>
          </a:p>
        </p:txBody>
      </p:sp>
      <p:sp>
        <p:nvSpPr>
          <p:cNvPr id="15" name="Text 13"/>
          <p:cNvSpPr txBox="1"/>
          <p:nvPr/>
        </p:nvSpPr>
        <p:spPr>
          <a:xfrm>
            <a:off x="9144000" y="3931920"/>
            <a:ext cx="2377440" cy="1097280"/>
          </a:xfrm>
          <a:prstGeom prst="rect">
            <a:avLst/>
          </a:prstGeom>
          <a:noFill/>
          <a:ln/>
        </p:spPr>
        <p:txBody>
          <a:bodyPr wrap="square" lIns="0" tIns="0" rIns="0" bIns="0" rtlCol="0" anchor="ctr"/>
          <a:lstStyle/>
          <a:p>
            <a:pPr indent="0" marL="0">
              <a:buNone/>
            </a:pPr>
            <a:r>
              <a:rPr lang="en-US" sz="1400" dirty="0">
                <a:solidFill>
                  <a:schemeClr val="tx1"/>
                </a:solidFill>
              </a:rPr>
              <a:t>Hager et al. baseline: mean diagnostic accuracy (OASST 70B). Different task; not compared with validity</a:t>
            </a:r>
            <a:endParaRPr lang="en-US" sz="1400" dirty="0"/>
          </a:p>
        </p:txBody>
      </p:sp>
      <p:sp>
        <p:nvSpPr>
          <p:cNvPr id="16" name="Text 14"/>
          <p:cNvSpPr txBox="1"/>
          <p:nvPr/>
        </p:nvSpPr>
        <p:spPr>
          <a:xfrm>
            <a:off x="7223760" y="5212080"/>
            <a:ext cx="4416552" cy="731520"/>
          </a:xfrm>
          <a:prstGeom prst="rect">
            <a:avLst/>
          </a:prstGeom>
          <a:noFill/>
          <a:ln/>
        </p:spPr>
        <p:txBody>
          <a:bodyPr wrap="square" lIns="0" tIns="0" rIns="0" bIns="0" rtlCol="0" anchor="t"/>
          <a:lstStyle/>
          <a:p>
            <a:pPr indent="0" marL="0">
              <a:buNone/>
            </a:pPr>
            <a:r>
              <a:rPr lang="en-US" sz="1400" dirty="0">
                <a:solidFill>
                  <a:schemeClr val="tx2"/>
                </a:solidFill>
              </a:rPr>
              <a:t>298A is done when Model A runs through the verifier and harness on all 100 test cases, reporting validity, escape rate, the failing rule ID and runtime per plan. Escape rate = share of known-unsafe plans the verifier passes.</a:t>
            </a:r>
            <a:endParaRPr lang="en-US" sz="1400" dirty="0"/>
          </a:p>
        </p:txBody>
      </p:sp>
      <p:sp>
        <p:nvSpPr>
          <p:cNvPr id="25" name="Slide Number Placeholder 0"/>
          <p:cNvSpPr>
            <a:spLocks noGrp="1"/>
          </p:cNvSpPr>
          <p:nvPr>
            <p:ph type="sldNum" sz="quarter" idx="4294967295"/>
          </p:nvPr>
        </p:nvSpPr>
        <p:spPr>
          <a:xfrm>
            <a:off x="10698480" y="635508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DELIVERABLES</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Four models, their metrics and artifacts</a:t>
            </a:r>
            <a:endParaRPr lang="en-US" sz="34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280160"/>
                <a:gridCol w="3291840"/>
                <a:gridCol w="3200400"/>
                <a:gridCol w="3319272"/>
              </a:tblGrid>
              <a:tr h="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Model</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14213D"/>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Purpose</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14213D"/>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Target metrics</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14213D"/>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Expected artifacts</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14213D"/>
                    </a:solidFill>
                  </a:tcPr>
                </a:tc>
              </a:tr>
              <a:tr h="0">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A · 298A</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LLM writes a plan directly from the case; the floor the others must beat</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Measured, not targeted: validity, escape rate and runtime per plan, by pathology</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Prompt and generator code, plans for 100 test cases, per-class results</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r>
              <a:tr h="0">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B · 298B</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Translate the clinical note and goal into a formal specification</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Translation fidelity ≥ 0.90 on a hand-checked validation subset (provisional)</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Spec schema, translator, consistency checks</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r>
              <a:tr h="0">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C · 298B</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LLM plus Z3 solver: name the broken rule, send the plan back for repair</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Validity ≥ 0.85 and escape rate ≤ 0.05 on 100 cases; solver cost per plan reported</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Rule set, Z3 verifier, repair loop, counterexample logs</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r>
              <a:tr h="0">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D · 298B</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LLM paired with a classical PDDL planner</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Validity and escape rate at least Model C's, at comparable solve time (provisional)</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PDDL domain, translator, planner run logs</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r>
            </a:tbl>
          </a:graphicData>
        </a:graphic>
      </p:graphicFrame>
      <p:sp>
        <p:nvSpPr>
          <p:cNvPr id="5" name="Text 2"/>
          <p:cNvSpPr txBox="1"/>
          <p:nvPr/>
        </p:nvSpPr>
        <p:spPr>
          <a:xfrm>
            <a:off x="548640" y="5943600"/>
            <a:ext cx="11064240" cy="320040"/>
          </a:xfrm>
          <a:prstGeom prst="rect">
            <a:avLst/>
          </a:prstGeom>
          <a:noFill/>
          <a:ln/>
        </p:spPr>
        <p:txBody>
          <a:bodyPr wrap="square" lIns="0" tIns="0" rIns="0" bIns="0" rtlCol="0" anchor="ctr"/>
          <a:lstStyle/>
          <a:p>
            <a:pPr indent="0" marL="0">
              <a:buNone/>
            </a:pPr>
            <a:r>
              <a:rPr lang="en-US" sz="1400" dirty="0">
                <a:solidFill>
                  <a:schemeClr val="tx2"/>
                </a:solidFill>
              </a:rPr>
              <a:t>The Hager et al. baseline (54.9% diagnostic accuracy) is a comparison point, not a fifth model. Provisional targets are frozen before each model runs.</a:t>
            </a:r>
            <a:endParaRPr lang="en-US" sz="1400" dirty="0"/>
          </a:p>
        </p:txBody>
      </p:sp>
      <p:sp>
        <p:nvSpPr>
          <p:cNvPr id="25" name="Slide Number Placeholder 0"/>
          <p:cNvSpPr>
            <a:spLocks noGrp="1"/>
          </p:cNvSpPr>
          <p:nvPr>
            <p:ph type="sldNum" sz="quarter" idx="4294967295"/>
          </p:nvPr>
        </p:nvSpPr>
        <p:spPr>
          <a:xfrm>
            <a:off x="10698480" y="635508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LITERATURE SURVEY</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Our baseline, and three papers that shape the design</a:t>
            </a:r>
            <a:endParaRPr lang="en-US" sz="34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3749039"/>
          <a:ext cx="11091672" cy="914400"/>
        </p:xfrm>
        <a:graphic>
          <a:graphicData uri="http://schemas.openxmlformats.org/drawingml/2006/table">
            <a:tbl>
              <a:tblPr/>
              <a:tblGrid>
                <a:gridCol w="2103120"/>
                <a:gridCol w="3383280"/>
                <a:gridCol w="3108960"/>
                <a:gridCol w="2496312"/>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Paper</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Problem and method</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Result</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Relevance to us</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14213D"/>
                    </a:solidFill>
                  </a:tcPr>
                </a:tc>
              </a:tr>
              <a:tr h="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LLM+P, Liu et al. 2023</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LLM writes PDDL; a planner solves it</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Optimal plans for most problems; LLM alone mostly infeasible</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Basis for Model D</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r>
              <a:tr h="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VeriMed, 2026</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LLM formalizes medical-device rules; Z3 counterexamples drive repair</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Hemodialysis QA verified accuracy 55.4% to 98.5%</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Basis for Model C repair loop</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Valmeekam et al. 2023, self-critique</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GPT-4 plans checked by GPT-4 itself or by the sound VAL verifier</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40/100 base; 55 with LLM check; 88 with VAL</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Why the checker is a solver, never the model</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r>
            </a:tbl>
          </a:graphicData>
        </a:graphic>
      </p:graphicFrame>
      <p:sp>
        <p:nvSpPr>
          <p:cNvPr id="25" name="Slide Number Placeholder 0"/>
          <p:cNvSpPr>
            <a:spLocks noGrp="1"/>
          </p:cNvSpPr>
          <p:nvPr>
            <p:ph type="sldNum" sz="quarter" idx="4294967295"/>
          </p:nvPr>
        </p:nvSpPr>
        <p:spPr>
          <a:xfrm>
            <a:off x="10698480" y="635508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4</a:t>
            </a:fld>
            <a:endParaRPr lang="en-US"/>
          </a:p>
        </p:txBody>
      </p:sp>
      <p:sp>
        <p:nvSpPr>
          <p:cNvPr id="26" name="Rounded Rectangle 25"/>
          <p:cNvSpPr/>
          <p:nvPr/>
        </p:nvSpPr>
        <p:spPr>
          <a:xfrm>
            <a:off x="548640" y="1463040"/>
            <a:ext cx="11091672" cy="2011680"/>
          </a:xfrm>
          <a:prstGeom prst="roundRect">
            <a:avLst>
              <a:gd name="adj" fmla="val 4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1645920"/>
            <a:ext cx="2468880" cy="1920240"/>
          </a:xfrm>
          <a:prstGeom prst="rect">
            <a:avLst/>
          </a:prstGeom>
          <a:noFill/>
        </p:spPr>
        <p:txBody>
          <a:bodyPr wrap="square" lIns="0" rIns="0" tIns="0" bIns="0" anchor="t">
            <a:spAutoFit/>
          </a:bodyPr>
          <a:lstStyle/>
          <a:p>
            <a:r>
              <a:rPr sz="1100" b="1">
                <a:solidFill>
                  <a:schemeClr val="accent2"/>
                </a:solidFill>
                <a:latin typeface="Calibri"/>
              </a:rPr>
              <a:t>BASELINE WE REPRODUCE</a:t>
            </a:r>
          </a:p>
          <a:p>
            <a:pPr>
              <a:spcBef>
                <a:spcPts val="600"/>
              </a:spcBef>
            </a:pPr>
            <a:r>
              <a:rPr sz="4400" b="1">
                <a:solidFill>
                  <a:schemeClr val="accent2"/>
                </a:solidFill>
                <a:latin typeface="Cambria"/>
              </a:rPr>
              <a:t>54.9%</a:t>
            </a:r>
          </a:p>
          <a:p>
            <a:pPr>
              <a:spcBef>
                <a:spcPts val="400"/>
              </a:spcBef>
            </a:pPr>
            <a:r>
              <a:rPr sz="1300" b="0">
                <a:solidFill>
                  <a:schemeClr val="bg1"/>
                </a:solidFill>
                <a:latin typeface="Calibri"/>
              </a:rPr>
              <a:t>Mean diagnostic accuracy, OASST 70B, autonomous setting (Fig. 3)</a:t>
            </a:r>
          </a:p>
        </p:txBody>
      </p:sp>
      <p:sp>
        <p:nvSpPr>
          <p:cNvPr id="28" name="TextBox 27"/>
          <p:cNvSpPr txBox="1"/>
          <p:nvPr/>
        </p:nvSpPr>
        <p:spPr>
          <a:xfrm>
            <a:off x="3611880" y="1645920"/>
            <a:ext cx="7818120" cy="320040"/>
          </a:xfrm>
          <a:prstGeom prst="rect">
            <a:avLst/>
          </a:prstGeom>
          <a:noFill/>
        </p:spPr>
        <p:txBody>
          <a:bodyPr wrap="square" lIns="0" rIns="0" tIns="0" bIns="0">
            <a:spAutoFit/>
          </a:bodyPr>
          <a:lstStyle/>
          <a:p>
            <a:r>
              <a:rPr sz="1700" b="1">
                <a:solidFill>
                  <a:schemeClr val="bg1"/>
                </a:solidFill>
                <a:latin typeface="Calibri"/>
              </a:rPr>
              <a:t>Hager et al., Nature Medicine 30:2613–2622 (2024)</a:t>
            </a:r>
          </a:p>
        </p:txBody>
      </p:sp>
      <p:sp>
        <p:nvSpPr>
          <p:cNvPr id="29" name="TextBox 28"/>
          <p:cNvSpPr txBox="1"/>
          <p:nvPr/>
        </p:nvSpPr>
        <p:spPr>
          <a:xfrm>
            <a:off x="3611880" y="2103120"/>
            <a:ext cx="1828800" cy="1508760"/>
          </a:xfrm>
          <a:prstGeom prst="rect">
            <a:avLst/>
          </a:prstGeom>
          <a:noFill/>
        </p:spPr>
        <p:txBody>
          <a:bodyPr wrap="square" lIns="0" rIns="0" tIns="0" bIns="0">
            <a:spAutoFit/>
          </a:bodyPr>
          <a:lstStyle/>
          <a:p>
            <a:r>
              <a:rPr sz="1300" b="1">
                <a:solidFill>
                  <a:schemeClr val="accent2"/>
                </a:solidFill>
                <a:latin typeface="Calibri"/>
              </a:rPr>
              <a:t>Problem</a:t>
            </a:r>
          </a:p>
          <a:p>
            <a:pPr>
              <a:spcBef>
                <a:spcPts val="300"/>
              </a:spcBef>
            </a:pPr>
            <a:r>
              <a:rPr sz="1200" b="0">
                <a:solidFill>
                  <a:schemeClr val="bg1"/>
                </a:solidFill>
                <a:latin typeface="Calibri"/>
              </a:rPr>
              <a:t>Can LLMs make real clinical decisions, not just pass exam questions?</a:t>
            </a:r>
          </a:p>
        </p:txBody>
      </p:sp>
      <p:sp>
        <p:nvSpPr>
          <p:cNvPr id="30" name="TextBox 29"/>
          <p:cNvSpPr txBox="1"/>
          <p:nvPr/>
        </p:nvSpPr>
        <p:spPr>
          <a:xfrm>
            <a:off x="5605272" y="2103120"/>
            <a:ext cx="1828800" cy="1508760"/>
          </a:xfrm>
          <a:prstGeom prst="rect">
            <a:avLst/>
          </a:prstGeom>
          <a:noFill/>
        </p:spPr>
        <p:txBody>
          <a:bodyPr wrap="square" lIns="0" rIns="0" tIns="0" bIns="0">
            <a:spAutoFit/>
          </a:bodyPr>
          <a:lstStyle/>
          <a:p>
            <a:r>
              <a:rPr sz="1300" b="1">
                <a:solidFill>
                  <a:schemeClr val="accent2"/>
                </a:solidFill>
                <a:latin typeface="Calibri"/>
              </a:rPr>
              <a:t>Method</a:t>
            </a:r>
          </a:p>
          <a:p>
            <a:pPr>
              <a:spcBef>
                <a:spcPts val="300"/>
              </a:spcBef>
            </a:pPr>
            <a:r>
              <a:rPr sz="1200" b="0">
                <a:solidFill>
                  <a:schemeClr val="bg1"/>
                </a:solidFill>
                <a:latin typeface="Calibri"/>
              </a:rPr>
              <a:t>Models gather history, exam, labs and imaging step by step on 2,400 MIMIC-IV admissions, four abdominal conditions</a:t>
            </a:r>
          </a:p>
        </p:txBody>
      </p:sp>
      <p:sp>
        <p:nvSpPr>
          <p:cNvPr id="31" name="TextBox 30"/>
          <p:cNvSpPr txBox="1"/>
          <p:nvPr/>
        </p:nvSpPr>
        <p:spPr>
          <a:xfrm>
            <a:off x="7598664" y="2103120"/>
            <a:ext cx="1828800" cy="1508760"/>
          </a:xfrm>
          <a:prstGeom prst="rect">
            <a:avLst/>
          </a:prstGeom>
          <a:noFill/>
        </p:spPr>
        <p:txBody>
          <a:bodyPr wrap="square" lIns="0" rIns="0" tIns="0" bIns="0">
            <a:spAutoFit/>
          </a:bodyPr>
          <a:lstStyle/>
          <a:p>
            <a:r>
              <a:rPr sz="1300" b="1">
                <a:solidFill>
                  <a:schemeClr val="accent2"/>
                </a:solidFill>
                <a:latin typeface="Calibri"/>
              </a:rPr>
              <a:t>Findings</a:t>
            </a:r>
          </a:p>
          <a:p>
            <a:pPr>
              <a:spcBef>
                <a:spcPts val="300"/>
              </a:spcBef>
            </a:pPr>
            <a:r>
              <a:rPr sz="1200" b="0">
                <a:solidFill>
                  <a:schemeClr val="bg1"/>
                </a:solidFill>
                <a:latin typeface="Calibri"/>
              </a:rPr>
              <a:t>Worse than physicians; skipped required labs, misread lab ranges, ignored diagnostic and treatment guidelines</a:t>
            </a:r>
          </a:p>
        </p:txBody>
      </p:sp>
      <p:sp>
        <p:nvSpPr>
          <p:cNvPr id="32" name="TextBox 31"/>
          <p:cNvSpPr txBox="1"/>
          <p:nvPr/>
        </p:nvSpPr>
        <p:spPr>
          <a:xfrm>
            <a:off x="9592056" y="2103120"/>
            <a:ext cx="1828800" cy="1508760"/>
          </a:xfrm>
          <a:prstGeom prst="rect">
            <a:avLst/>
          </a:prstGeom>
          <a:noFill/>
        </p:spPr>
        <p:txBody>
          <a:bodyPr wrap="square" lIns="0" rIns="0" tIns="0" bIns="0">
            <a:spAutoFit/>
          </a:bodyPr>
          <a:lstStyle/>
          <a:p>
            <a:r>
              <a:rPr sz="1300" b="1">
                <a:solidFill>
                  <a:schemeClr val="accent2"/>
                </a:solidFill>
                <a:latin typeface="Calibri"/>
              </a:rPr>
              <a:t>How we use it</a:t>
            </a:r>
          </a:p>
          <a:p>
            <a:pPr>
              <a:spcBef>
                <a:spcPts val="300"/>
              </a:spcBef>
            </a:pPr>
            <a:r>
              <a:rPr sz="1200" b="0">
                <a:solidFill>
                  <a:schemeClr val="bg1"/>
                </a:solidFill>
                <a:latin typeface="Calibri"/>
              </a:rPr>
              <a:t>Same 2,400 cases; we rerun its public code as a separate baseline. It scores diagnosis, we score rule validity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RELATED PRODUCTS</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What exists today and how we differ</a:t>
            </a:r>
            <a:endParaRPr lang="en-US" sz="34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377440"/>
                <a:gridCol w="3108960"/>
                <a:gridCol w="3108960"/>
                <a:gridCol w="2496312"/>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Product</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14213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What it offers</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14213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Limit for this problem</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14213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How Team 6 differs</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14213D"/>
                    </a:solidFill>
                  </a:tcPr>
                </a:tc>
              </a:tr>
              <a:tr h="0">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Amazon Comprehend Medical</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Extracts medical entities and links them to ICD-10-CM, RxNorm and SNOMED CT</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Reads text; does not judge whether a plan is safe or well sequenced</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We test the plan and name the failing rule</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Google Vertex AI</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Hosts Gemini and other models with grounding, safety filters and evaluation tools</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Checks are statistical or model-judged; no guarantee a given rule holds</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A solver, not a model, decides pass or fail</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r>
              <a:tr h="0">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OpenAI API</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GPT models; structured outputs force schema-valid answers</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Schema-valid is not clinically valid; models grade themselves poorly</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Z3 checks rules the team wrote</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Hospital LLM drafting pilots (Stanford, a Dutch academic hospital)</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LLM drafts discharge summaries; 384 discharges at Stanford, Aug to Oct 2025</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Safety rests on manual physician review, which is late and does not scale</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Automated check runs before physician review</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r>
            </a:tbl>
          </a:graphicData>
        </a:graphic>
      </p:graphicFrame>
      <p:sp>
        <p:nvSpPr>
          <p:cNvPr id="25" name="Slide Number Placeholder 0"/>
          <p:cNvSpPr>
            <a:spLocks noGrp="1"/>
          </p:cNvSpPr>
          <p:nvPr>
            <p:ph type="sldNum" sz="quarter" idx="4294967295"/>
          </p:nvPr>
        </p:nvSpPr>
        <p:spPr>
          <a:xfrm>
            <a:off x="10698480" y="635508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DATA</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2,400 admissions, cleaned, split and checked</a:t>
            </a:r>
            <a:endParaRPr lang="en-US" sz="3400" dirty="0"/>
          </a:p>
        </p:txBody>
      </p:sp>
      <p:sp>
        <p:nvSpPr>
          <p:cNvPr id="4" name="What we have card"/>
          <p:cNvSpPr/>
          <p:nvPr/>
        </p:nvSpPr>
        <p:spPr>
          <a:xfrm>
            <a:off x="548640" y="1463040"/>
            <a:ext cx="5440680" cy="4663440"/>
          </a:xfrm>
          <a:prstGeom prst="roundRect">
            <a:avLst>
              <a:gd name="adj" fmla="val 1569"/>
            </a:avLst>
          </a:prstGeom>
          <a:solidFill>
            <a:schemeClr val="bg2"/>
          </a:solidFill>
          <a:ln w="12700">
            <a:solidFill>
              <a:schemeClr val="accent5"/>
            </a:solidFill>
            <a:prstDash val="solid"/>
          </a:ln>
        </p:spPr>
      </p:sp>
      <p:sp>
        <p:nvSpPr>
          <p:cNvPr id="5" name="Text 3"/>
          <p:cNvSpPr txBox="1"/>
          <p:nvPr/>
        </p:nvSpPr>
        <p:spPr>
          <a:xfrm>
            <a:off x="777240" y="1600200"/>
            <a:ext cx="4983480" cy="4389120"/>
          </a:xfrm>
          <a:prstGeom prst="rect">
            <a:avLst/>
          </a:prstGeom>
          <a:noFill/>
          <a:ln/>
        </p:spPr>
        <p:txBody>
          <a:bodyPr wrap="square" lIns="0" tIns="0" rIns="0" bIns="0" rtlCol="0" anchor="t"/>
          <a:lstStyle/>
          <a:p>
            <a:pPr indent="0" marL="0">
              <a:spcAft>
                <a:spcPts val="600"/>
              </a:spcAft>
              <a:buNone/>
            </a:pPr>
            <a:r>
              <a:rPr lang="en-US" sz="2000" b="1" dirty="0">
                <a:solidFill>
                  <a:schemeClr val="accent1"/>
                </a:solidFill>
              </a:rPr>
              <a:t>What we have</a:t>
            </a:r>
            <a:endParaRPr lang="en-US" sz="2000" dirty="0"/>
          </a:p>
          <a:p>
            <a:pPr marL="342900" indent="-342900">
              <a:spcAft>
                <a:spcPts val="800"/>
              </a:spcAft>
              <a:buSzPct val="100000"/>
              <a:buChar char="•"/>
            </a:pPr>
            <a:r>
              <a:rPr lang="en-US" sz="1600" dirty="0">
                <a:solidFill>
                  <a:schemeClr val="tx1"/>
                </a:solidFill>
              </a:rPr>
              <a:t>Source: MIMIC-IV-Ext-CDM v1.1 (Hager et al.), an extract of MIMIC-IV v3.1</a:t>
            </a:r>
            <a:endParaRPr lang="en-US" sz="2000" dirty="0"/>
          </a:p>
          <a:p>
            <a:pPr marL="342900" indent="-342900">
              <a:spcAft>
                <a:spcPts val="800"/>
              </a:spcAft>
              <a:buSzPct val="100000"/>
              <a:buChar char="•"/>
            </a:pPr>
            <a:r>
              <a:rPr lang="en-US" sz="1600" dirty="0">
                <a:solidFill>
                  <a:schemeClr val="tx1"/>
                </a:solidFill>
              </a:rPr>
              <a:t>Size: 2,400 admissions, 9 tables, 178,747 rows, 18 MB</a:t>
            </a:r>
            <a:endParaRPr lang="en-US" sz="2000" dirty="0"/>
          </a:p>
          <a:p>
            <a:pPr marL="342900" indent="-342900">
              <a:spcAft>
                <a:spcPts val="800"/>
              </a:spcAft>
              <a:buSzPct val="100000"/>
              <a:buChar char="•"/>
            </a:pPr>
            <a:r>
              <a:rPr lang="en-US" sz="1600" dirty="0">
                <a:solidFill>
                  <a:schemeClr val="tx1"/>
                </a:solidFill>
              </a:rPr>
              <a:t>Schema: admission note and exam, labs, microbiology, radiology, ICD codes, discharge diagnosis and procedures</a:t>
            </a:r>
            <a:endParaRPr lang="en-US" sz="2000" dirty="0"/>
          </a:p>
          <a:p>
            <a:pPr marL="342900" indent="-342900">
              <a:spcAft>
                <a:spcPts val="800"/>
              </a:spcAft>
              <a:buSzPct val="100000"/>
              <a:buChar char="•"/>
            </a:pPr>
            <a:r>
              <a:rPr lang="en-US" sz="1600" dirty="0">
                <a:solidFill>
                  <a:schemeClr val="tx1"/>
                </a:solidFill>
              </a:rPr>
              <a:t>Classes: appendicitis 957, cholecystitis 648, pancreatitis 538, diverticulitis 257</a:t>
            </a:r>
            <a:endParaRPr lang="en-US" sz="2000" dirty="0"/>
          </a:p>
          <a:p>
            <a:pPr marL="342900" indent="-342900">
              <a:spcAft>
                <a:spcPts val="800"/>
              </a:spcAft>
              <a:buSzPct val="100000"/>
              <a:buChar char="•"/>
            </a:pPr>
            <a:r>
              <a:rPr lang="en-US" sz="1600" dirty="0">
                <a:solidFill>
                  <a:schemeClr val="tx1"/>
                </a:solidFill>
              </a:rPr>
              <a:t>License: PhysioNet Credentialed Health Data License 1.5.0; signed agreement per person; no patient data in the repo</a:t>
            </a:r>
            <a:endParaRPr lang="en-US" sz="2000" dirty="0"/>
          </a:p>
        </p:txBody>
      </p:sp>
      <p:sp>
        <p:nvSpPr>
          <p:cNvPr id="6" name="What we did card"/>
          <p:cNvSpPr/>
          <p:nvPr/>
        </p:nvSpPr>
        <p:spPr>
          <a:xfrm>
            <a:off x="6199632" y="1463040"/>
            <a:ext cx="5440680" cy="4663440"/>
          </a:xfrm>
          <a:prstGeom prst="roundRect">
            <a:avLst>
              <a:gd name="adj" fmla="val 1569"/>
            </a:avLst>
          </a:prstGeom>
          <a:solidFill>
            <a:schemeClr val="bg2"/>
          </a:solidFill>
          <a:ln w="12700">
            <a:solidFill>
              <a:schemeClr val="accent5"/>
            </a:solidFill>
            <a:prstDash val="solid"/>
          </a:ln>
        </p:spPr>
      </p:sp>
      <p:sp>
        <p:nvSpPr>
          <p:cNvPr id="7" name="Text 5"/>
          <p:cNvSpPr txBox="1"/>
          <p:nvPr/>
        </p:nvSpPr>
        <p:spPr>
          <a:xfrm>
            <a:off x="6428232" y="1600200"/>
            <a:ext cx="4983480" cy="4389120"/>
          </a:xfrm>
          <a:prstGeom prst="rect">
            <a:avLst/>
          </a:prstGeom>
          <a:noFill/>
          <a:ln/>
        </p:spPr>
        <p:txBody>
          <a:bodyPr wrap="square" lIns="0" tIns="0" rIns="0" bIns="0" rtlCol="0" anchor="t"/>
          <a:lstStyle/>
          <a:p>
            <a:pPr indent="0" marL="0">
              <a:spcAft>
                <a:spcPts val="600"/>
              </a:spcAft>
              <a:buNone/>
            </a:pPr>
            <a:r>
              <a:rPr lang="en-US" sz="2000" b="1" dirty="0">
                <a:solidFill>
                  <a:schemeClr val="accent1"/>
                </a:solidFill>
              </a:rPr>
              <a:t>What we did</a:t>
            </a:r>
            <a:endParaRPr lang="en-US" sz="2000" dirty="0"/>
          </a:p>
          <a:p>
            <a:pPr marL="342900" indent="-342900">
              <a:spcAft>
                <a:spcPts val="800"/>
              </a:spcAft>
              <a:buSzPct val="100000"/>
              <a:buChar char="•"/>
            </a:pPr>
            <a:r>
              <a:rPr lang="en-US" sz="1600" dirty="0">
                <a:solidFill>
                  <a:schemeClr val="tx1"/>
                </a:solidFill>
              </a:rPr>
              <a:t>Cleaning: 75 duplicate rows removed; text spacing normalized; lab strings parsed to number and unit, then flagged low, normal, high or unknown with no imputation; outliers kept as real cases</a:t>
            </a:r>
            <a:endParaRPr lang="en-US" sz="2000" dirty="0"/>
          </a:p>
          <a:p>
            <a:pPr marL="342900" indent="-342900">
              <a:spcAft>
                <a:spcPts val="800"/>
              </a:spcAft>
              <a:buSzPct val="100000"/>
              <a:buChar char="•"/>
            </a:pPr>
            <a:r>
              <a:rPr lang="en-US" sz="1600" dirty="0">
                <a:solidFill>
                  <a:schemeClr val="tx1"/>
                </a:solidFill>
              </a:rPr>
              <a:t>Splits: 1,840 train, 460 validation, 100 test, stratified by pathology, seed 298, leakage check passed</a:t>
            </a:r>
            <a:endParaRPr lang="en-US" sz="2000" dirty="0"/>
          </a:p>
          <a:p>
            <a:pPr marL="342900" indent="-342900">
              <a:spcAft>
                <a:spcPts val="800"/>
              </a:spcAft>
              <a:buSzPct val="100000"/>
              <a:buChar char="•"/>
            </a:pPr>
            <a:r>
              <a:rPr lang="en-US" sz="1600" dirty="0">
                <a:solidFill>
                  <a:schemeClr val="tx1"/>
                </a:solidFill>
              </a:rPr>
              <a:t>Augmentation: none on patient records; synthetic rule-violating plans (rule catalog) supply the known-unsafe cases escape rate needs</a:t>
            </a:r>
            <a:endParaRPr lang="en-US" sz="2000" dirty="0"/>
          </a:p>
          <a:p>
            <a:pPr marL="342900" indent="-342900">
              <a:spcAft>
                <a:spcPts val="800"/>
              </a:spcAft>
              <a:buSzPct val="100000"/>
              <a:buChar char="•"/>
            </a:pPr>
            <a:r>
              <a:rPr lang="en-US" sz="1600" dirty="0">
                <a:solidFill>
                  <a:schemeClr val="tx1"/>
                </a:solidFill>
              </a:rPr>
              <a:t>Validation: checksums 12 of 12; 2,400 of 2,400 IDs found in MIMIC-IV; checks pass on clean data and fail on deliberately broken copies</a:t>
            </a:r>
            <a:endParaRPr lang="en-US" sz="2000" dirty="0"/>
          </a:p>
        </p:txBody>
      </p:sp>
      <p:sp>
        <p:nvSpPr>
          <p:cNvPr id="25" name="Slide Number Placeholder 0"/>
          <p:cNvSpPr>
            <a:spLocks noGrp="1"/>
          </p:cNvSpPr>
          <p:nvPr>
            <p:ph type="sldNum" sz="quarter" idx="4294967295"/>
          </p:nvPr>
        </p:nvSpPr>
        <p:spPr>
          <a:xfrm>
            <a:off x="10698480" y="635508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ORGANIZATION PLAN</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Roles, tools and workflow</a:t>
            </a:r>
            <a:endParaRPr lang="en-US" sz="3400" dirty="0"/>
          </a:p>
        </p:txBody>
      </p:sp>
      <p:graphicFrame>
        <p:nvGraphicFramePr>
          <p:cNvPr id="8" name="Roles table"/>
          <p:cNvGraphicFramePr>
            <a:graphicFrameLocks noGrp="1"/>
          </p:cNvGraphicFramePr>
          <p:nvPr>
            <p:extLst>
              <p:ext uri="{D42A27DB-BD31-4B8C-83A1-F6EECF244321}">
                <p14:modId xmlns:p14="http://schemas.microsoft.com/office/powerpoint/2010/main" val="1579011935"/>
              </p:ext>
            </p:extLst>
          </p:nvPr>
        </p:nvGraphicFramePr>
        <p:xfrm>
          <a:off x="548640" y="1463040"/>
          <a:ext cx="3840480" cy="914400"/>
        </p:xfrm>
        <a:graphic>
          <a:graphicData uri="http://schemas.openxmlformats.org/drawingml/2006/table">
            <a:tbl>
              <a:tblPr/>
              <a:tblGrid>
                <a:gridCol w="2377440"/>
                <a:gridCol w="1463040"/>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Member</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14213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Role</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14213D"/>
                    </a:solidFill>
                  </a:tcPr>
                </a:tc>
              </a:tr>
              <a:tr h="0">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Ritika Mukesh Neema</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Model A</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Sneha Singh</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Rule catalog, verifier rules</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r>
              <a:tr h="0">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Akashkumar Senthilkumar</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Data, manifest, pipeline</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Rajesh Paruchuri</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Metrics, splits, baseline, harness</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r>
              <a:tr h="0">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Shruthi Thirukumaran</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Environment, CI, verifier lead</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029200"/>
            <a:ext cx="3840480" cy="1097280"/>
          </a:xfrm>
          <a:prstGeom prst="rect">
            <a:avLst/>
          </a:prstGeom>
          <a:noFill/>
          <a:ln/>
        </p:spPr>
        <p:txBody>
          <a:bodyPr wrap="square" lIns="0" tIns="0" rIns="0" bIns="0" rtlCol="0" anchor="t"/>
          <a:lstStyle/>
          <a:p>
            <a:pPr indent="0" marL="0">
              <a:buNone/>
            </a:pPr>
            <a:r>
              <a:rPr lang="en-US" sz="1400" dirty="0">
                <a:solidFill>
                  <a:schemeClr val="tx2"/>
                </a:solidFill>
              </a:rPr>
              <a:t>Each work package has one primary owner in Linear; other members contribute through linked issues.</a:t>
            </a:r>
            <a:endParaRPr lang="en-US" sz="1400" dirty="0"/>
          </a:p>
        </p:txBody>
      </p:sp>
      <p:graphicFrame>
        <p:nvGraphicFramePr>
          <p:cNvPr id="15" name="Workflow table"/>
          <p:cNvGraphicFramePr>
            <a:graphicFrameLocks noGrp="1"/>
          </p:cNvGraphicFramePr>
          <p:nvPr>
            <p:extLst>
              <p:ext uri="{D42A27DB-BD31-4B8C-83A1-F6EECF244321}">
                <p14:modId xmlns:p14="http://schemas.microsoft.com/office/powerpoint/2010/main" val="1579011935"/>
              </p:ext>
            </p:extLst>
          </p:nvPr>
        </p:nvGraphicFramePr>
        <p:xfrm>
          <a:off x="4754880" y="1463040"/>
          <a:ext cx="6858000" cy="914400"/>
        </p:xfrm>
        <a:graphic>
          <a:graphicData uri="http://schemas.openxmlformats.org/drawingml/2006/table">
            <a:tbl>
              <a:tblPr/>
              <a:tblGrid>
                <a:gridCol w="1737360"/>
                <a:gridCol w="5120640"/>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Area</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14213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Tool or practice</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14213D"/>
                    </a:solidFill>
                  </a:tcPr>
                </a:tc>
              </a:tr>
              <a:tr h="0">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Code</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GitHub repo; every change reviewed by a teammate</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Issues</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Linear: two-week cycles; one assignee per issue; closed only with a linked artifact</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r>
              <a:tr h="0">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Documentation</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Repo README, pipeline notebook, decisions logged in Linear</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Experiments</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Fixed seed 298, versioned splits and configs; aggregate results only</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r>
              <a:tr h="0">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Data</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Stays on each member's machine; never committed</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Deployment</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None in 298A; local evaluation harness run with one command</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r>
              <a:tr h="0">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Communication</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Weekly sync; instructor and ISA feedback becomes Linear issues</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Incident response</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Patient data committed by mistake: stop, purge history, tell the instructor the same day (proposed)</a:t>
                      </a:r>
                      <a:endParaRPr lang="en-US" sz="15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r>
            </a:tbl>
          </a:graphicData>
        </a:graphic>
      </p:graphicFrame>
      <p:sp>
        <p:nvSpPr>
          <p:cNvPr id="25" name="Slide Number Placeholder 0"/>
          <p:cNvSpPr>
            <a:spLocks noGrp="1"/>
          </p:cNvSpPr>
          <p:nvPr>
            <p:ph type="sldNum" sz="quarter" idx="4294967295"/>
          </p:nvPr>
        </p:nvSpPr>
        <p:spPr>
          <a:xfrm>
            <a:off x="10698480" y="635508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SCHEDULE</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Milestones and dependencies for DATA 298A</a:t>
            </a:r>
            <a:endParaRPr lang="en-US" sz="34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0"/>
        </p:xfrm>
        <a:graphic>
          <a:graphicData uri="http://schemas.openxmlformats.org/drawingml/2006/table">
            <a:tbl>
              <a:tblPr/>
              <a:tblGrid>
                <a:gridCol w="5669280"/>
                <a:gridCol w="3108960"/>
                <a:gridCol w="2313432"/>
              </a:tblGrid>
              <a:tr h="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Milestone</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14213D"/>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Depends on</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14213D"/>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Target</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14213D"/>
                    </a:solidFill>
                  </a:tcPr>
                </a:tc>
              </a:tr>
              <a:tr h="0">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Data pipeline, cleaning and splits</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PhysioNet access</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Done, Oct 8</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r>
              <a:tr h="0">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Rule set v1, high-severity rules first</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Data pipeline</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Oct 22</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r>
              <a:tr h="0">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Z3 verifier and evaluation harness</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Rule set v1, fixed splits</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Nov 5</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r>
              <a:tr h="0">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Model A plans on validation cases</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Harness, local LLM setup</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Nov 5</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r>
              <a:tr h="0">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Team Meeting 2 demo: Model A through the harness</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Model A, harness</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Nov 12</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r>
              <a:tr h="0">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Reproduce the Hager et al. baseline</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GPU or HPC access, pipeline</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By late Nov</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r>
              <a:tr h="0">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100-case test run and failure study</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Model A, verifier, harness</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Nov to early Dec</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r>
              <a:tr h="0">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Final report and presentation</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All of the above</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800" dirty="0">
                          <a:solidFill>
                            <a:srgbClr val="14213D"/>
                          </a:solidFill>
                          <a:latin typeface="Calibri" pitchFamily="34" charset="0"/>
                          <a:ea typeface="Calibri" pitchFamily="34" charset="-122"/>
                          <a:cs typeface="Calibri" pitchFamily="34" charset="-120"/>
                        </a:rPr>
                        <a:t>Dec 7 and Dec 8</a:t>
                      </a:r>
                      <a:endParaRPr lang="en-US" sz="18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r>
            </a:tbl>
          </a:graphicData>
        </a:graphic>
      </p:graphicFrame>
      <p:sp>
        <p:nvSpPr>
          <p:cNvPr id="5" name="Text 2"/>
          <p:cNvSpPr txBox="1"/>
          <p:nvPr/>
        </p:nvSpPr>
        <p:spPr>
          <a:xfrm>
            <a:off x="548640" y="5394960"/>
            <a:ext cx="11064240" cy="640080"/>
          </a:xfrm>
          <a:prstGeom prst="rect">
            <a:avLst/>
          </a:prstGeom>
          <a:noFill/>
          <a:ln/>
        </p:spPr>
        <p:txBody>
          <a:bodyPr wrap="square" lIns="0" tIns="0" rIns="0" bIns="0" rtlCol="0" anchor="t"/>
          <a:lstStyle/>
          <a:p>
            <a:pPr indent="0" marL="0">
              <a:buNone/>
            </a:pPr>
            <a:r>
              <a:rPr lang="en-US" sz="1400" dirty="0">
                <a:solidFill>
                  <a:schemeClr val="tx2"/>
                </a:solidFill>
              </a:rPr>
              <a:t>Checkpoints: Progress Report 2 Oct 22 · Workbook 2 Nov 11 · Team Meeting 2 Nov 12 · Final report Dec 7 · Final presentation Dec 8. Reviews: weekly team sync, pull-request review on every change, instructor and ISA feedback tracked in Linear, demo dry run before each checkpoint.</a:t>
            </a:r>
            <a:endParaRPr lang="en-US" sz="1400" dirty="0"/>
          </a:p>
        </p:txBody>
      </p:sp>
      <p:sp>
        <p:nvSpPr>
          <p:cNvPr id="25" name="Slide Number Placeholder 0"/>
          <p:cNvSpPr>
            <a:spLocks noGrp="1"/>
          </p:cNvSpPr>
          <p:nvPr>
            <p:ph type="sldNum" sz="quarter" idx="4294967295"/>
          </p:nvPr>
        </p:nvSpPr>
        <p:spPr>
          <a:xfrm>
            <a:off x="10698480" y="635508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CHALLENGES AND RISKS</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Risks, mitigations and fallback plans</a:t>
            </a:r>
            <a:endParaRPr lang="en-US" sz="34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3383280"/>
                <a:gridCol w="4297680"/>
                <a:gridCol w="3410712"/>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Risk</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14213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Mitigation</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14213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Fallback</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14213D"/>
                    </a:solidFill>
                  </a:tcPr>
                </a:tc>
              </a:tr>
              <a:tr h="0">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Imbalance and drift: 3.7 times more appendicitis than diverticulitis; one hospital, 2008 to 2019</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Stratified split; report every metric per pathology; claim nothing beyond four conditions</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Report 95% intervals; flag the 11 diverticulitis test cases as low-confidence</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Missing data: 30.9% of lab rows unflaggable; microbiology in 77% of cases</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Keep unknown, never impute; a rule with no input reports not checkable</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Report rule coverage next to validity</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r>
              <a:tr h="0">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Operational: no GPU yet for the 70B baseline; Z3 may not scale; repair runs vary</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Request university GPU or HPC; high-severity rules first; fixed seeds, repeat runs</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Smaller model with the gap documented; ship the verified rule subset</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Ethical: patient privacy, single-hospital bias, misuse as an autonomous decision-maker</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Data stays local under the license; aggregate outputs only; results by sex and age group; decision support with human review</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Incident plan: purge, notify the instructor the same day</a:t>
                      </a:r>
                      <a:endParaRPr lang="en-US" sz="1600" dirty="0">
                        <a:latin typeface="Calibri" charset="0"/>
                        <a:ea typeface="Calibri" charset="0"/>
                        <a:cs typeface="Calibri" charset="0"/>
                      </a:endParaRPr>
                    </a:p>
                  </a:txBody>
                  <a:tcPr marL="91440" marR="91440" marT="64008" marB="64008" anchor="ctr">
                    <a:lnL w="9525" cap="flat" cmpd="sng" algn="ctr">
                      <a:solidFill>
                        <a:srgbClr val="DAD6CB"/>
                      </a:solidFill>
                      <a:prstDash val="solid"/>
                      <a:round/>
                      <a:headEnd type="none" w="med" len="med"/>
                      <a:tailEnd type="none" w="med" len="med"/>
                    </a:lnL>
                    <a:lnR w="9525" cap="flat" cmpd="sng" algn="ctr">
                      <a:solidFill>
                        <a:srgbClr val="DAD6CB"/>
                      </a:solidFill>
                      <a:prstDash val="solid"/>
                      <a:round/>
                      <a:headEnd type="none" w="med" len="med"/>
                      <a:tailEnd type="none" w="med" len="med"/>
                    </a:lnR>
                    <a:lnT w="9525" cap="flat" cmpd="sng" algn="ctr">
                      <a:solidFill>
                        <a:srgbClr val="DAD6CB"/>
                      </a:solidFill>
                      <a:prstDash val="solid"/>
                      <a:round/>
                      <a:headEnd type="none" w="med" len="med"/>
                      <a:tailEnd type="none" w="med" len="med"/>
                    </a:lnT>
                    <a:lnB w="9525" cap="flat" cmpd="sng" algn="ctr">
                      <a:solidFill>
                        <a:srgbClr val="DAD6CB"/>
                      </a:solidFill>
                      <a:prstDash val="solid"/>
                      <a:round/>
                      <a:headEnd type="none" w="med" len="med"/>
                      <a:tailEnd type="none" w="med" len="med"/>
                    </a:lnB>
                    <a:solidFill>
                      <a:srgbClr val="F1F3F7"/>
                    </a:solidFill>
                  </a:tcPr>
                </a:tc>
              </a:tr>
            </a:tbl>
          </a:graphicData>
        </a:graphic>
      </p:graphicFrame>
      <p:sp>
        <p:nvSpPr>
          <p:cNvPr id="25" name="Slide Number Placeholder 0"/>
          <p:cNvSpPr>
            <a:spLocks noGrp="1"/>
          </p:cNvSpPr>
          <p:nvPr>
            <p:ph type="sldNum" sz="quarter" idx="4294967295"/>
          </p:nvPr>
        </p:nvSpPr>
        <p:spPr>
          <a:xfrm>
            <a:off x="10698480" y="635508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chemeClr val="accent2"/>
                </a:solidFill>
              </a:rPr>
              <a:t>STATUS</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bg1"/>
                </a:solidFill>
              </a:rPr>
              <a:t>Where we are and what comes next</a:t>
            </a:r>
            <a:endParaRPr lang="en-US" sz="3400" dirty="0"/>
          </a:p>
        </p:txBody>
      </p:sp>
      <p:sp>
        <p:nvSpPr>
          <p:cNvPr id="4" name="Done card"/>
          <p:cNvSpPr/>
          <p:nvPr/>
        </p:nvSpPr>
        <p:spPr>
          <a:xfrm>
            <a:off x="548640" y="1554480"/>
            <a:ext cx="3566160" cy="3017520"/>
          </a:xfrm>
          <a:prstGeom prst="roundRect">
            <a:avLst>
              <a:gd name="adj" fmla="val 2424"/>
            </a:avLst>
          </a:prstGeom>
          <a:solidFill>
            <a:schemeClr val="accent6"/>
          </a:solidFill>
          <a:ln w="12700">
            <a:solidFill>
              <a:schemeClr val="accent4"/>
            </a:solidFill>
            <a:prstDash val="solid"/>
          </a:ln>
        </p:spPr>
      </p:sp>
      <p:sp>
        <p:nvSpPr>
          <p:cNvPr id="5" name="Text 3"/>
          <p:cNvSpPr txBox="1"/>
          <p:nvPr/>
        </p:nvSpPr>
        <p:spPr>
          <a:xfrm>
            <a:off x="777240" y="1737360"/>
            <a:ext cx="3108960" cy="2651760"/>
          </a:xfrm>
          <a:prstGeom prst="rect">
            <a:avLst/>
          </a:prstGeom>
          <a:noFill/>
          <a:ln/>
        </p:spPr>
        <p:txBody>
          <a:bodyPr wrap="square" lIns="0" tIns="0" rIns="0" bIns="0" rtlCol="0" anchor="t"/>
          <a:lstStyle/>
          <a:p>
            <a:pPr indent="0" marL="0">
              <a:spcAft>
                <a:spcPts val="800"/>
              </a:spcAft>
              <a:buNone/>
            </a:pPr>
            <a:r>
              <a:rPr lang="en-US" sz="2200" b="1" dirty="0">
                <a:solidFill>
                  <a:schemeClr val="accent2"/>
                </a:solidFill>
              </a:rPr>
              <a:t>Done</a:t>
            </a:r>
            <a:endParaRPr lang="en-US" sz="2200" dirty="0"/>
          </a:p>
          <a:p>
            <a:pPr marL="342900" indent="-342900">
              <a:spcAft>
                <a:spcPts val="800"/>
              </a:spcAft>
              <a:buSzPct val="100000"/>
              <a:buChar char="•"/>
            </a:pPr>
            <a:r>
              <a:rPr lang="en-US" sz="1800" dirty="0">
                <a:solidFill>
                  <a:schemeClr val="bg1"/>
                </a:solidFill>
              </a:rPr>
              <a:t>2,400 cases cleaned, split and leakage-checked</a:t>
            </a:r>
            <a:endParaRPr lang="en-US" sz="2200" dirty="0"/>
          </a:p>
          <a:p>
            <a:pPr marL="342900" indent="-342900">
              <a:spcAft>
                <a:spcPts val="800"/>
              </a:spcAft>
              <a:buSzPct val="100000"/>
              <a:buChar char="•"/>
            </a:pPr>
            <a:r>
              <a:rPr lang="en-US" sz="1800" dirty="0">
                <a:solidFill>
                  <a:schemeClr val="bg1"/>
                </a:solidFill>
              </a:rPr>
              <a:t>Workbook 1 submitted; Linear cycles running</a:t>
            </a:r>
            <a:endParaRPr lang="en-US" sz="2200" dirty="0"/>
          </a:p>
          <a:p>
            <a:pPr marL="342900" indent="-342900">
              <a:spcAft>
                <a:spcPts val="800"/>
              </a:spcAft>
              <a:buSzPct val="100000"/>
              <a:buChar char="•"/>
            </a:pPr>
            <a:r>
              <a:rPr lang="en-US" sz="1800" dirty="0">
                <a:solidFill>
                  <a:schemeClr val="bg1"/>
                </a:solidFill>
              </a:rPr>
              <a:t>Related work surveyed</a:t>
            </a:r>
            <a:endParaRPr lang="en-US" sz="2200" dirty="0"/>
          </a:p>
        </p:txBody>
      </p:sp>
      <p:sp>
        <p:nvSpPr>
          <p:cNvPr id="6" name="Next card"/>
          <p:cNvSpPr/>
          <p:nvPr/>
        </p:nvSpPr>
        <p:spPr>
          <a:xfrm>
            <a:off x="4297680" y="1554480"/>
            <a:ext cx="3566160" cy="3017520"/>
          </a:xfrm>
          <a:prstGeom prst="roundRect">
            <a:avLst>
              <a:gd name="adj" fmla="val 2424"/>
            </a:avLst>
          </a:prstGeom>
          <a:solidFill>
            <a:schemeClr val="accent6"/>
          </a:solidFill>
          <a:ln w="12700">
            <a:solidFill>
              <a:schemeClr val="accent4"/>
            </a:solidFill>
            <a:prstDash val="solid"/>
          </a:ln>
        </p:spPr>
      </p:sp>
      <p:sp>
        <p:nvSpPr>
          <p:cNvPr id="7" name="Text 5"/>
          <p:cNvSpPr txBox="1"/>
          <p:nvPr/>
        </p:nvSpPr>
        <p:spPr>
          <a:xfrm>
            <a:off x="4526280" y="1737360"/>
            <a:ext cx="3108960" cy="2651760"/>
          </a:xfrm>
          <a:prstGeom prst="rect">
            <a:avLst/>
          </a:prstGeom>
          <a:noFill/>
          <a:ln/>
        </p:spPr>
        <p:txBody>
          <a:bodyPr wrap="square" lIns="0" tIns="0" rIns="0" bIns="0" rtlCol="0" anchor="t"/>
          <a:lstStyle/>
          <a:p>
            <a:pPr indent="0" marL="0">
              <a:spcAft>
                <a:spcPts val="800"/>
              </a:spcAft>
              <a:buNone/>
            </a:pPr>
            <a:r>
              <a:rPr lang="en-US" sz="2200" b="1" dirty="0">
                <a:solidFill>
                  <a:schemeClr val="accent2"/>
                </a:solidFill>
              </a:rPr>
              <a:t>Next</a:t>
            </a:r>
            <a:endParaRPr lang="en-US" sz="2200" dirty="0"/>
          </a:p>
          <a:p>
            <a:pPr marL="342900" indent="-342900">
              <a:spcAft>
                <a:spcPts val="800"/>
              </a:spcAft>
              <a:buSzPct val="100000"/>
              <a:buChar char="•"/>
            </a:pPr>
            <a:r>
              <a:rPr lang="en-US" sz="1800" dirty="0">
                <a:solidFill>
                  <a:schemeClr val="bg1"/>
                </a:solidFill>
              </a:rPr>
              <a:t>Rule set v1 and Z3 verifier</a:t>
            </a:r>
            <a:endParaRPr lang="en-US" sz="2200" dirty="0"/>
          </a:p>
          <a:p>
            <a:pPr marL="342900" indent="-342900">
              <a:spcAft>
                <a:spcPts val="800"/>
              </a:spcAft>
              <a:buSzPct val="100000"/>
              <a:buChar char="•"/>
            </a:pPr>
            <a:r>
              <a:rPr lang="en-US" sz="1800" dirty="0">
                <a:solidFill>
                  <a:schemeClr val="bg1"/>
                </a:solidFill>
              </a:rPr>
              <a:t>Model A plans on validation cases</a:t>
            </a:r>
            <a:endParaRPr lang="en-US" sz="2200" dirty="0"/>
          </a:p>
          <a:p>
            <a:pPr marL="342900" indent="-342900">
              <a:spcAft>
                <a:spcPts val="800"/>
              </a:spcAft>
              <a:buSzPct val="100000"/>
              <a:buChar char="•"/>
            </a:pPr>
            <a:r>
              <a:rPr lang="en-US" sz="1800" dirty="0">
                <a:solidFill>
                  <a:schemeClr val="bg1"/>
                </a:solidFill>
              </a:rPr>
              <a:t>Reproduce the Hager et al. baseline</a:t>
            </a:r>
            <a:endParaRPr lang="en-US" sz="2200" dirty="0"/>
          </a:p>
        </p:txBody>
      </p:sp>
      <p:sp>
        <p:nvSpPr>
          <p:cNvPr id="8" name="Open items card"/>
          <p:cNvSpPr/>
          <p:nvPr/>
        </p:nvSpPr>
        <p:spPr>
          <a:xfrm>
            <a:off x="8046720" y="1554480"/>
            <a:ext cx="3566160" cy="3017520"/>
          </a:xfrm>
          <a:prstGeom prst="roundRect">
            <a:avLst>
              <a:gd name="adj" fmla="val 2424"/>
            </a:avLst>
          </a:prstGeom>
          <a:solidFill>
            <a:schemeClr val="accent6"/>
          </a:solidFill>
          <a:ln w="12700">
            <a:solidFill>
              <a:schemeClr val="accent4"/>
            </a:solidFill>
            <a:prstDash val="solid"/>
          </a:ln>
        </p:spPr>
      </p:sp>
      <p:sp>
        <p:nvSpPr>
          <p:cNvPr id="9" name="Text 7"/>
          <p:cNvSpPr txBox="1"/>
          <p:nvPr/>
        </p:nvSpPr>
        <p:spPr>
          <a:xfrm>
            <a:off x="8275320" y="1737360"/>
            <a:ext cx="3108960" cy="2651760"/>
          </a:xfrm>
          <a:prstGeom prst="rect">
            <a:avLst/>
          </a:prstGeom>
          <a:noFill/>
          <a:ln/>
        </p:spPr>
        <p:txBody>
          <a:bodyPr wrap="square" lIns="0" tIns="0" rIns="0" bIns="0" rtlCol="0" anchor="t"/>
          <a:lstStyle/>
          <a:p>
            <a:pPr indent="0" marL="0">
              <a:spcAft>
                <a:spcPts val="800"/>
              </a:spcAft>
              <a:buNone/>
            </a:pPr>
            <a:r>
              <a:rPr lang="en-US" sz="2200" b="1" dirty="0">
                <a:solidFill>
                  <a:schemeClr val="accent2"/>
                </a:solidFill>
              </a:rPr>
              <a:t>Open items</a:t>
            </a:r>
            <a:endParaRPr lang="en-US" sz="2200" dirty="0"/>
          </a:p>
          <a:p>
            <a:pPr marL="342900" indent="-342900">
              <a:spcAft>
                <a:spcPts val="800"/>
              </a:spcAft>
              <a:buSzPct val="100000"/>
              <a:buChar char="•"/>
            </a:pPr>
            <a:r>
              <a:rPr lang="en-US" sz="1800" dirty="0">
                <a:solidFill>
                  <a:schemeClr val="bg1"/>
                </a:solidFill>
              </a:rPr>
              <a:t>GPU or HPC for the 70B baseline</a:t>
            </a:r>
            <a:endParaRPr lang="en-US" sz="2200" dirty="0"/>
          </a:p>
          <a:p>
            <a:pPr marL="342900" indent="-342900">
              <a:spcAft>
                <a:spcPts val="800"/>
              </a:spcAft>
              <a:buSzPct val="100000"/>
              <a:buChar char="•"/>
            </a:pPr>
            <a:r>
              <a:rPr lang="en-US" sz="1800" dirty="0">
                <a:solidFill>
                  <a:schemeClr val="bg1"/>
                </a:solidFill>
              </a:rPr>
              <a:t>Which local open-weight model runs Model A</a:t>
            </a:r>
            <a:endParaRPr lang="en-US" sz="2200" dirty="0"/>
          </a:p>
          <a:p>
            <a:pPr marL="342900" indent="-342900">
              <a:spcAft>
                <a:spcPts val="800"/>
              </a:spcAft>
              <a:buSzPct val="100000"/>
              <a:buChar char="•"/>
            </a:pPr>
            <a:r>
              <a:rPr lang="en-US" sz="1800" dirty="0">
                <a:solidFill>
                  <a:schemeClr val="bg1"/>
                </a:solidFill>
              </a:rPr>
              <a:t>Secondary-metric targets: repair, fidelity, solver cost</a:t>
            </a:r>
            <a:endParaRPr lang="en-US" sz="2200" dirty="0"/>
          </a:p>
        </p:txBody>
      </p:sp>
      <p:sp>
        <p:nvSpPr>
          <p:cNvPr id="10" name="Text 8"/>
          <p:cNvSpPr txBox="1"/>
          <p:nvPr/>
        </p:nvSpPr>
        <p:spPr>
          <a:xfrm>
            <a:off x="548640" y="5029200"/>
            <a:ext cx="7315200" cy="82296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Questions?</a:t>
            </a:r>
            <a:endParaRPr lang="en-US" sz="4000" dirty="0"/>
          </a:p>
        </p:txBody>
      </p:sp>
      <p:sp>
        <p:nvSpPr>
          <p:cNvPr id="25" name="Slide Number Placeholder 0"/>
          <p:cNvSpPr>
            <a:spLocks noGrp="1"/>
          </p:cNvSpPr>
          <p:nvPr>
            <p:ph type="sldNum" sz="quarter" idx="4294967295"/>
          </p:nvPr>
        </p:nvSpPr>
        <p:spPr>
          <a:xfrm>
            <a:off x="10698480" y="635508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Team6 Clinical Verification">
  <a:themeElements>
    <a:clrScheme name="Team6 Clinical Verification">
      <a:dk1>
        <a:srgbClr val="14213D"/>
      </a:dk1>
      <a:lt1>
        <a:srgbClr val="FFFFFF"/>
      </a:lt1>
      <a:dk2>
        <a:srgbClr val="5B6478"/>
      </a:dk2>
      <a:lt2>
        <a:srgbClr val="F1F3F7"/>
      </a:lt2>
      <a:accent1>
        <a:srgbClr val="17706A"/>
      </a:accent1>
      <a:accent2>
        <a:srgbClr val="7ED6CC"/>
      </a:accent2>
      <a:accent3>
        <a:srgbClr val="A94E10"/>
      </a:accent3>
      <a:accent4>
        <a:srgbClr val="33466F"/>
      </a:accent4>
      <a:accent5>
        <a:srgbClr val="DAD6CB"/>
      </a:accent5>
      <a:accent6>
        <a:srgbClr val="1F2F52"/>
      </a:accent6>
      <a:hlink>
        <a:srgbClr val="17706A"/>
      </a:hlink>
      <a:folHlink>
        <a:srgbClr val="5B6478"/>
      </a:folHlink>
    </a:clrScheme>
    <a:fontScheme name="Team6 Clinical Verific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6 Professor Presentation</dc:title>
  <dc:subject>PptxGenJS Presentation</dc:subject>
  <dc:creator>Team 6</dc:creator>
  <cp:lastModifiedBy>Team 6</cp:lastModifiedBy>
  <cp:revision>1</cp:revision>
  <dcterms:created xsi:type="dcterms:W3CDTF">2026-10-08T06:41:35Z</dcterms:created>
  <dcterms:modified xsi:type="dcterms:W3CDTF">2026-10-08T06:41:35Z</dcterms:modified>
</cp:coreProperties>
</file>